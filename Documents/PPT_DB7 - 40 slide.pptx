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59" r:id="rId4"/>
    <p:sldId id="260" r:id="rId5"/>
    <p:sldId id="281" r:id="rId6"/>
    <p:sldId id="282" r:id="rId7"/>
    <p:sldId id="283" r:id="rId8"/>
    <p:sldId id="261" r:id="rId9"/>
    <p:sldId id="300" r:id="rId10"/>
    <p:sldId id="263" r:id="rId11"/>
    <p:sldId id="264" r:id="rId12"/>
    <p:sldId id="265" r:id="rId13"/>
    <p:sldId id="284" r:id="rId14"/>
    <p:sldId id="285" r:id="rId15"/>
    <p:sldId id="286" r:id="rId16"/>
    <p:sldId id="266" r:id="rId17"/>
    <p:sldId id="267" r:id="rId18"/>
    <p:sldId id="279" r:id="rId19"/>
    <p:sldId id="287" r:id="rId20"/>
    <p:sldId id="288" r:id="rId21"/>
    <p:sldId id="289" r:id="rId22"/>
    <p:sldId id="268" r:id="rId23"/>
    <p:sldId id="269" r:id="rId24"/>
    <p:sldId id="274" r:id="rId25"/>
    <p:sldId id="293" r:id="rId26"/>
    <p:sldId id="294" r:id="rId27"/>
    <p:sldId id="295" r:id="rId28"/>
    <p:sldId id="275" r:id="rId29"/>
    <p:sldId id="290" r:id="rId30"/>
    <p:sldId id="291" r:id="rId31"/>
    <p:sldId id="292" r:id="rId32"/>
    <p:sldId id="296" r:id="rId33"/>
    <p:sldId id="270" r:id="rId34"/>
    <p:sldId id="276" r:id="rId35"/>
    <p:sldId id="297" r:id="rId36"/>
    <p:sldId id="298" r:id="rId37"/>
    <p:sldId id="299" r:id="rId38"/>
    <p:sldId id="271" r:id="rId39"/>
    <p:sldId id="277" r:id="rId40"/>
    <p:sldId id="278" r:id="rId41"/>
    <p:sldId id="273" r:id="rId42"/>
    <p:sldId id="272" r:id="rId43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CFC3BC5B-B841-480F-A8AF-C1100B5FCFBB}">
          <p14:sldIdLst>
            <p14:sldId id="257"/>
            <p14:sldId id="258"/>
            <p14:sldId id="259"/>
            <p14:sldId id="260"/>
            <p14:sldId id="281"/>
            <p14:sldId id="282"/>
            <p14:sldId id="283"/>
            <p14:sldId id="261"/>
            <p14:sldId id="300"/>
            <p14:sldId id="263"/>
            <p14:sldId id="264"/>
            <p14:sldId id="265"/>
            <p14:sldId id="284"/>
            <p14:sldId id="285"/>
            <p14:sldId id="286"/>
            <p14:sldId id="266"/>
            <p14:sldId id="267"/>
            <p14:sldId id="279"/>
            <p14:sldId id="287"/>
            <p14:sldId id="288"/>
            <p14:sldId id="289"/>
            <p14:sldId id="268"/>
            <p14:sldId id="269"/>
            <p14:sldId id="274"/>
            <p14:sldId id="293"/>
            <p14:sldId id="294"/>
            <p14:sldId id="295"/>
            <p14:sldId id="275"/>
            <p14:sldId id="290"/>
            <p14:sldId id="291"/>
            <p14:sldId id="292"/>
            <p14:sldId id="296"/>
            <p14:sldId id="270"/>
            <p14:sldId id="276"/>
            <p14:sldId id="297"/>
            <p14:sldId id="298"/>
            <p14:sldId id="299"/>
            <p14:sldId id="271"/>
            <p14:sldId id="277"/>
            <p14:sldId id="278"/>
            <p14:sldId id="273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8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F412B-6FA9-4B3A-A61B-0552AC73DE3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C2694-AF22-425F-B4CB-353623C47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3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92654" TargetMode="External"/><Relationship Id="rId2" Type="http://schemas.openxmlformats.org/officeDocument/2006/relationships/hyperlink" Target="https://ieeexplore.ieee.org/document/1013818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608139" TargetMode="External"/><Relationship Id="rId4" Type="http://schemas.openxmlformats.org/officeDocument/2006/relationships/hyperlink" Target="https://ieeexplore.ieee.org/document/1057482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495045" TargetMode="External"/><Relationship Id="rId2" Type="http://schemas.openxmlformats.org/officeDocument/2006/relationships/hyperlink" Target="https://ieeexplore.ieee.org/document/1061459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638042" TargetMode="External"/><Relationship Id="rId4" Type="http://schemas.openxmlformats.org/officeDocument/2006/relationships/hyperlink" Target="https://ieeexplore.ieee.org/document/10605813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msuneetha973@gmail.com" TargetMode="External"/><Relationship Id="rId2" Type="http://schemas.openxmlformats.org/officeDocument/2006/relationships/hyperlink" Target="mailto:rajeshtatapudi1819@g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hilakasanthosh11@gmail.com" TargetMode="External"/><Relationship Id="rId4" Type="http://schemas.openxmlformats.org/officeDocument/2006/relationships/hyperlink" Target="mailto:gsgopinath3@gmail.com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4" y="397307"/>
            <a:ext cx="10101072" cy="156246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0" tIns="478010" rIns="0" bIns="0" rtlCol="0" anchor="ctr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lang="en-US" sz="1800" spc="-10" dirty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>
                <a:solidFill>
                  <a:srgbClr val="FF0000"/>
                </a:solidFill>
              </a:rPr>
              <a:t>MULTIMODAL CYBERBULLYING DETECTION USING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INTER-MODAL-ATTENTION-BASED DEEP LEARNING</a:t>
            </a: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591809" y="2253578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1000" y="2519643"/>
            <a:ext cx="4304665" cy="13226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Tatapudi Rajesh		 (22471A05O5)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Panchumarthi Lakshmi Gopinath	 (22471A05N7)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Chilaka Santhosh		 (23475A0511)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000" y="3677054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550" b="1" dirty="0">
                <a:latin typeface="Times New Roman"/>
                <a:cs typeface="Times New Roman"/>
              </a:rPr>
              <a:t>Mothe Suneetha </a:t>
            </a:r>
            <a:r>
              <a:rPr lang="en-US" sz="1200" b="1" dirty="0">
                <a:latin typeface="Times New Roman"/>
                <a:cs typeface="Times New Roman"/>
              </a:rPr>
              <a:t>M. 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Assistant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553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/>
              <a:t>_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DB7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15040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17903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spcBef>
                <a:spcPts val="315"/>
              </a:spcBef>
              <a:buFontTx/>
              <a:buAutoNum type="arabicPeriod"/>
              <a:tabLst>
                <a:tab pos="52705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n-US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</a:t>
            </a:r>
            <a:r>
              <a:rPr lang="en-US"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DB7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76299" y="1371600"/>
            <a:ext cx="10439400" cy="40793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social media continues to affect users emotionally and socially, creating an urgent need for automated detection systems that can interpret both language and visuals.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this, designed a multimodal framework that learns from text and image data using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inter-modal attention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mechanism. The text is represented through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embeddings, while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generate image captions and visual context. These representations are then fused and processed through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to recognize bullying cues. Along with classification, the system performs input validation,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NSFW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screening, and assigns severity and category levels to each post. Experiments conducted on the MMHS150K dataset show an accuracy of 87.2\%, precision of 85.6\%, recall of 84.9\%, and an F1-score of 85.2\%, surpassing prior methods such as SAFE, MCNN, and LBP-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sim.The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is lightweight, interpretable, and adaptable for real-time content moderation across social media platforms.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212641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142654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301494"/>
            <a:ext cx="10972800" cy="425501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of Social Media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enables instant communication and content sharing across the world.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User's express opinions through text, images, memes, and comments on digital platforms.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openness has created new challenges in controlling harmful online behavior.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Missuse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Misuse of social platforms leads to harassment, humiliation, and mental stress.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Victims often face anxiety, depression, and social isolation due to online abuse.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moderation is not sufficient because of the huge volume of daily posts.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Text-Only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Sysytems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analyze only written content and ignore images.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fail to understand memes, sarcasm, and mixed-language expressions.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multimodal approach is required to capture the real intent behind posts.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972CC-45F8-8DA8-7F24-A07A7E6C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6B1FC4-7BDA-3620-8812-0DD7649F12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90600" y="353658"/>
            <a:ext cx="11353800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 algn="l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NEED FOR MULTIMODAL APPROACH</a:t>
            </a:r>
            <a:endParaRPr lang="en-IN"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A9B14AC-BB7D-0443-B641-0E56C63EA46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3C9EFBD-3D65-3298-993A-1BC4ADA38B1A}"/>
              </a:ext>
            </a:extLst>
          </p:cNvPr>
          <p:cNvSpPr txBox="1"/>
          <p:nvPr/>
        </p:nvSpPr>
        <p:spPr>
          <a:xfrm>
            <a:off x="4142654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BA1F446-54A8-EF7A-3781-85DA6CCF26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2AAA0E7-9D4B-9764-2BA5-813A374FE8F7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708BA83-512D-7A99-BB6C-A04500FC315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9D921D-3EAC-7720-1FA1-767F41AFA8CF}"/>
              </a:ext>
            </a:extLst>
          </p:cNvPr>
          <p:cNvSpPr txBox="1"/>
          <p:nvPr/>
        </p:nvSpPr>
        <p:spPr>
          <a:xfrm>
            <a:off x="685800" y="1270717"/>
            <a:ext cx="10972800" cy="431656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Real Social Media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Posts are composed of captions, emojis, images, and comments.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User's express emotions through a combination of visual and textual cues.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 intent is often hidden in this mixed representation.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Modalities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a post depends on how text relates to the image.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neutral sentence can become abusive when paired with an offensive meme.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both modalities together provides true contextual meaning.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of Multimodal Intelligence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detection must analyze visual and linguistic signals jointly.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should understand sarcasm, symbolism, and implicit threats.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a unified deep learning framework using text and image.</a:t>
            </a:r>
          </a:p>
        </p:txBody>
      </p:sp>
    </p:spTree>
    <p:extLst>
      <p:ext uri="{BB962C8B-B14F-4D97-AF65-F5344CB8AC3E}">
        <p14:creationId xmlns:p14="http://schemas.microsoft.com/office/powerpoint/2010/main" val="292885581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586F-8309-0492-4076-CBB4A785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97C5FC-525D-A132-0CF2-4ADACDDE1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3658"/>
            <a:ext cx="9525000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 algn="l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EXISTING SOLUTIONS</a:t>
            </a:r>
            <a:endParaRPr lang="en-IN"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DAC220-9D95-42FF-A3D0-B48793113AF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3FD44B3-2CD3-5497-A1E0-380242C8E971}"/>
              </a:ext>
            </a:extLst>
          </p:cNvPr>
          <p:cNvSpPr txBox="1"/>
          <p:nvPr/>
        </p:nvSpPr>
        <p:spPr>
          <a:xfrm>
            <a:off x="4142654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7AFAA6F-4C92-FE25-0C71-6F2CBB3C3CB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43776A8-8581-B858-0BAF-2BE24DB8A3A2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1205C4D-869A-EBF8-8649-94619A3D551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C96CBCA-2EA2-5C59-928C-3B4F808ED545}"/>
              </a:ext>
            </a:extLst>
          </p:cNvPr>
          <p:cNvSpPr txBox="1"/>
          <p:nvPr/>
        </p:nvSpPr>
        <p:spPr>
          <a:xfrm>
            <a:off x="685800" y="1316883"/>
            <a:ext cx="10972800" cy="422423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Detection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systems relied on keyword filtering and rule-based approaches.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such as Naïve Bayes and SVM were used for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depended heavily on manually designed features.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Approaches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works introduced neural networks and transformer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and LSTM-based models improved contextual understanding of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frameworks attempted to combine metadata with textual features.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Multimodal Efforts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explored joint analysis of text and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used CNN features or OCR for visual understanding.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approaches suffered from high computation and weak alignment between modalities.</a:t>
            </a:r>
          </a:p>
        </p:txBody>
      </p:sp>
    </p:spTree>
    <p:extLst>
      <p:ext uri="{BB962C8B-B14F-4D97-AF65-F5344CB8AC3E}">
        <p14:creationId xmlns:p14="http://schemas.microsoft.com/office/powerpoint/2010/main" val="266324015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CCA78-36FC-3153-E180-106D1152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F4D4B1-5CAD-C661-A079-169873358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3658"/>
            <a:ext cx="9525000" cy="819454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 algn="l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PROPOSED IDEA</a:t>
            </a:r>
            <a:endParaRPr lang="en-IN"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E7557A0-E8DB-F326-3222-6C5FBCC4009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378F27C-8A4A-66EF-5403-5BABEB00D7AB}"/>
              </a:ext>
            </a:extLst>
          </p:cNvPr>
          <p:cNvSpPr txBox="1"/>
          <p:nvPr/>
        </p:nvSpPr>
        <p:spPr>
          <a:xfrm>
            <a:off x="4142654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57FC52C-051F-F255-A616-70E099591A5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B9263E-EC2B-45B6-B6D7-20456EE07ADB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57FEE79-96AA-07F0-9FBD-953E0E4AD9F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1229D5-62AF-3E6E-0782-E4B58B1E0784}"/>
              </a:ext>
            </a:extLst>
          </p:cNvPr>
          <p:cNvSpPr txBox="1"/>
          <p:nvPr/>
        </p:nvSpPr>
        <p:spPr>
          <a:xfrm>
            <a:off x="685800" y="1316883"/>
            <a:ext cx="10972800" cy="422423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 of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detects cyberbullying using both text and image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advanced language and vision models in a single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inter-modal attention mechanism learns the relationship between modalities.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used to extract contextual textual embeddings from posts.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 model generates meaningful image descriptions and visual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models sequential dependencies after feature fusion.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whether a post is bullying or not.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confidence score, severity level, and bullying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be directly used for social media moderation systems.</a:t>
            </a:r>
          </a:p>
        </p:txBody>
      </p:sp>
    </p:spTree>
    <p:extLst>
      <p:ext uri="{BB962C8B-B14F-4D97-AF65-F5344CB8AC3E}">
        <p14:creationId xmlns:p14="http://schemas.microsoft.com/office/powerpoint/2010/main" val="251519201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56509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77000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79587"/>
              </p:ext>
            </p:extLst>
          </p:nvPr>
        </p:nvGraphicFramePr>
        <p:xfrm>
          <a:off x="381000" y="1052194"/>
          <a:ext cx="11429999" cy="527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3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9337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sz="1550" b="1" spc="1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sz="1550" b="1" spc="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sz="155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sz="1550" b="1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62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 inter-modal attention-based deep learning framework using unified modality for multimodal fake news, hate speech, and offensive language detection</a:t>
                      </a: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Ayetiran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&amp;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Ozgobek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2024, Elsevier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sng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https://www.sciencedirect.com/science/article/pii/S0306437924000378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BiLSTM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-CNN + Inter-modal Attention (model architecture/components)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They achieved state-of-the-art results by combining image and text, creating a truly unified representation.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There is no much explainability, only a "yes/no" answer for classification, and it demands a lot of computing power.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59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Cyberbullying Detection Based on Emotion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Al-Hashedi et al., 2023,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https://ieeexplore.ieee.org/document/10138186</a:t>
                      </a:r>
                      <a:endParaRPr lang="en-IN" sz="10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BERT, XLNet (as core models) + emotion classifier (specific model/component)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97% F1 score for emotions, 92% for bullying texts.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only works for one language, and getting humans to label all that data is super expensive.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94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 With Tournament Selected Glowworm Swarm Optimization Algorithm for Cyberbullying Detection on Social Media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Ravuri Daniel et al., 2023,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https://ieeexplore.ieee.org/document/10292654</a:t>
                      </a:r>
                      <a:endParaRPr lang="en-IN" sz="10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GloVe (as an embedding technique/feature representation) + ELSTM-AB (model)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96.4% accuracy and making predictions in just 0.32 seconds.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Can't handle pictures or videos and hasn't been tested in real-time situations yet.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3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 Multi-Modal Approach for Identification and Detection of Cyberbullying in Social Networks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Al-Khasawneh et al.,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 dirty="0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https://ieeexplore.ieee.org/document/10574823</a:t>
                      </a:r>
                      <a:endParaRPr lang="en-IN" sz="1000" u="sng" dirty="0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 + Hierarchical Attention, MLP for fusion (all are model components/architectures)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92.1% accuracy for Twitter and 86.4% F1 for Instagram.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tests on image or video content. Plus, you'll need a powerful GPU.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7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Detection of Cyberbullying in Mixed Urdu, Roman Urdu, and English Social Media Conversations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Razi &amp; Ejaz,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i="0" u="sng" dirty="0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https://ieeexplore.ieee.org/document/10608139</a:t>
                      </a:r>
                      <a:endParaRPr lang="en-IN" sz="1000" u="sng" dirty="0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mBERT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/MuRIL (as core models) + weighted harm scoring (specific logic/algorithm)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92% F1-score and, big news, created the first cyberbullying dataset that works in three languages.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images or videos, and it only tells you "yes" or "no" for bullying (binary classification).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8958-E8D2-C344-8BF9-0A60A9E3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374D8B-4C0C-41C8-E1CA-29E80C775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56509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C2A0E7-392E-90DC-79A2-775D52A657E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3929A86-FDAB-ABAE-19D5-7F7A9E63718E}"/>
              </a:ext>
            </a:extLst>
          </p:cNvPr>
          <p:cNvSpPr txBox="1"/>
          <p:nvPr/>
        </p:nvSpPr>
        <p:spPr>
          <a:xfrm>
            <a:off x="4429378" y="6477000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416A43A-ED53-B5FF-D4E5-BE9CCDF5C9D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C64278-A4F8-5C2D-7409-7D38679F3E27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4FC704D-200F-F364-1127-71B8A10454D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0D04FF7-0349-31D1-2840-296249ACF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98149"/>
              </p:ext>
            </p:extLst>
          </p:nvPr>
        </p:nvGraphicFramePr>
        <p:xfrm>
          <a:off x="381000" y="1052194"/>
          <a:ext cx="11429999" cy="5074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3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9337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sz="1550" b="1" spc="1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sz="1550" b="1" spc="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sz="155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sz="1550" b="1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sz="15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2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6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Chained Deep Learning Model for Fine-Grained Cyberbullying Detection With Bystander Dynamics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nl-NL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Alfurayj et al.,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https://ieeexplore.ieee.org/document/10614592</a:t>
                      </a:r>
                      <a:endParaRPr lang="en-IN" sz="12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+ LSTM (chained),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AdamW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optimizer (optimizer, not a model)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got 89% F1-score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dataset was small (just 639 tweets), and because they chained models, errors might have piled up. No multimodal input here either.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59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7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RoBERTaNET: Enhanced RoBERTa Transformer Based Model for Cyberbullying Detection With GloVe Features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Arwa A. Jamjoom et al.,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https://ieeexplore.ieee.org/document/10495045</a:t>
                      </a:r>
                      <a:endParaRPr lang="en-IN" sz="12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(as core model) +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GloVe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(embedding/feature)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one is 95% accuracy and 96% F1 in cross, coming out on top in their 5-fold tests.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a thought that GloVe might not be adding much if you're already using RoBERTa. Also, it was only tested on Twitter data and didn't clearly fix the class imbalance problem.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8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Text to Insight: An Integrated CNN-BiLSTM-GRU Model for Arabic Cyberbullying Detection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a-D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Eman-Yaser Daraghmi et al., 2024, IEEE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https://ieeexplore.ieee.org/document/10605813</a:t>
                      </a:r>
                      <a:endParaRPr lang="en-IN" sz="12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</a:t>
                      </a:r>
                      <a:r>
                        <a:rPr lang="en-IN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-GRU (model architecture), Adam, SGD, </a:t>
                      </a:r>
                      <a:r>
                        <a:rPr lang="en-IN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RMSProp</a:t>
                      </a: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(optimizers)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Arabic text: 98.8% accuracy and a 99.5% recall.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 it's exclusively for Arabic, the model is so complex, and they didn't test it on live or real-time data.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9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Cyberbullying Detection and Abuser Profile Identification on Social Media for Roman Urdu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Ayesha</a:t>
                      </a:r>
                      <a:r>
                        <a:rPr lang="fr-F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Atif et al., 2024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i="0" u="sng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https://ieeexplore.ieee.org/document/10638042</a:t>
                      </a:r>
                      <a:endParaRPr lang="en-IN" sz="1200" u="sng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 (model), Compared to SVM, RF (other models)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97% accuracy and F1, validated thoroughly with 10-fold cross-validation.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It's limited to Roman Urdu, might have cultural and regional biases, and can't handle emojis or slang.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7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10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Forensics: An Adaptive Cyberbullying-Related Hate Speech Detection Approach Based on Neural Networks With Uncertainty</a:t>
                      </a:r>
                    </a:p>
                  </a:txBody>
                  <a:tcPr marL="22860" marR="22860" marT="15240" marB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Yasmine M. Ibrahim et al., 2024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200" i="0" u="sng" dirty="0">
                          <a:solidFill>
                            <a:srgbClr val="4285F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https://ieeexplore.ieee.org/document/10614592</a:t>
                      </a:r>
                      <a:endParaRPr lang="en-IN" sz="1200" u="sng" dirty="0">
                        <a:solidFill>
                          <a:srgbClr val="4285F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(model) + </a:t>
                      </a:r>
                      <a:r>
                        <a:rPr lang="en-IN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Neurosophic</a:t>
                      </a: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Logic (framework/logic), </a:t>
                      </a:r>
                      <a:r>
                        <a:rPr lang="en-IN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OvO</a:t>
                      </a: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strategy (multi-class handling strategy for models)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one got 95–97% accuracy and even beat out traditional machine learning models.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"old-school" TF-IDF might not capture deep meaning, they didn't use modern contextual embeddings, and the tuning process was quite complicated.</a:t>
                      </a:r>
                    </a:p>
                  </a:txBody>
                  <a:tcPr marL="22860" marR="22860" marT="15240" marB="152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0217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FF14-77B6-4437-2943-B8E1C027E2DD}"/>
              </a:ext>
            </a:extLst>
          </p:cNvPr>
          <p:cNvSpPr txBox="1"/>
          <p:nvPr/>
        </p:nvSpPr>
        <p:spPr>
          <a:xfrm>
            <a:off x="929865" y="1483468"/>
            <a:ext cx="1089501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Limitations in Existing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Explainability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Most models provide only a binary decision without reasons.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depend on OCR and heavy CNN pipelines.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True Multimodal Fusion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and image are processed separately with weak interaction.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Readiness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are not optimized for live social media streams.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Output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severity level or category of bullying.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23899" y="1347661"/>
            <a:ext cx="10744200" cy="416267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Issue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on social media platforms has become a growing threat, negatively impacting users’ mental health and online safety.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Limitations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detection systems mainly rely on textual data, lack explainability, and fail to process multimodal content like images.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Problem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and efficient framework that can accurately detect, explainability and interpret cyberbullying from both text and visual data in real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multimodal deep learning model that integrates text and image features using inter-modal attention, enabling accurate, explainable, and real-time cyberbullying detection.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2271" y="1371600"/>
            <a:ext cx="10887456" cy="450123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Inter-modal-attention-based Deep Learning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accurate and efficient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multimodal deep learning framework that effectively combines textual and visual features for cyberbullying detection.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inter-modal attention mechanism that enhances the interaction between text and image modalities for better contextual understanding.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accuracy and robustness of detection compared to existing single-modality or traditional models.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 and efficiency by optimizing the model for real-time prediction on social media data.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interpretable outputs that help moderators understand why a post is flagged as cyberbullying.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FC82-5F5A-804E-B0CE-9927AE3A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54B0CF-403C-182D-2BCD-A2488C68B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66799" y="283463"/>
            <a:ext cx="11049000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DATASET OVERVIEW (MMHS150K)</a:t>
            </a:r>
            <a:endParaRPr lang="en-US"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3AB626D-73AD-AE26-C15D-FDD89F8E2C0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DC6602-C12B-C8B5-996D-77ACB2A58B3B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4C683A0-2711-5418-0B88-40EBAF78A4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9098C0F-F964-1C5A-9805-B093EB07C3C8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623FFD7-126F-C830-72CC-3975138C951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52F0F61-83F7-7A84-2261-7ADA8A622957}"/>
              </a:ext>
            </a:extLst>
          </p:cNvPr>
          <p:cNvSpPr txBox="1"/>
          <p:nvPr/>
        </p:nvSpPr>
        <p:spPr>
          <a:xfrm>
            <a:off x="1331625" y="1447800"/>
            <a:ext cx="6897975" cy="379334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multimodal cyberbullying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text captions + images from social media.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150,000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Training: 134,823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Validation: 5,000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Testing: 10,000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Hate/Bullying: 44,001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Not-Hate: 105,999</a:t>
            </a:r>
          </a:p>
        </p:txBody>
      </p:sp>
    </p:spTree>
    <p:extLst>
      <p:ext uri="{BB962C8B-B14F-4D97-AF65-F5344CB8AC3E}">
        <p14:creationId xmlns:p14="http://schemas.microsoft.com/office/powerpoint/2010/main" val="2713521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7C8E-028C-88A5-3B84-28CB15F5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658D47-C44E-012F-740C-B553C9095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999" y="283463"/>
            <a:ext cx="9601201" cy="819454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PREPROCESSING: TEXT</a:t>
            </a:r>
            <a:endParaRPr lang="en-US"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4A7A387-D814-3D47-C0BA-1BCD4B947F8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66CC67A-259F-2DFD-1AC6-1DC38691782B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20A0711-0342-D8CA-BDCD-11670A0AB3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7BD265-C088-1B91-8244-AA12E02AF4A4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A4DA9FE-1C80-E1EF-D2CB-3F757333510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D032398-1E3F-2EEA-7F36-A20C6ADF97AA}"/>
              </a:ext>
            </a:extLst>
          </p:cNvPr>
          <p:cNvSpPr txBox="1"/>
          <p:nvPr/>
        </p:nvSpPr>
        <p:spPr>
          <a:xfrm>
            <a:off x="542774" y="1066046"/>
            <a:ext cx="5448300" cy="440889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noise such as: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Emojis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Hashtags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mentions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all text to lowercase for uniformity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using BERT tokenizer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 or truncation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tokens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attention mask for batch processing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text field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the original tweet, image caption (Prompt A), and alternative caption (Prompt B).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E41C62-2FBC-A052-E8F1-FEDD898FC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551064"/>
              </p:ext>
            </p:extLst>
          </p:nvPr>
        </p:nvGraphicFramePr>
        <p:xfrm>
          <a:off x="6172200" y="1524000"/>
          <a:ext cx="5372101" cy="3657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6657">
                  <a:extLst>
                    <a:ext uri="{9D8B030D-6E8A-4147-A177-3AD203B41FA5}">
                      <a16:colId xmlns:a16="http://schemas.microsoft.com/office/drawing/2014/main" val="173350004"/>
                    </a:ext>
                  </a:extLst>
                </a:gridCol>
                <a:gridCol w="2985444">
                  <a:extLst>
                    <a:ext uri="{9D8B030D-6E8A-4147-A177-3AD203B41FA5}">
                      <a16:colId xmlns:a16="http://schemas.microsoft.com/office/drawing/2014/main" val="3975215544"/>
                    </a:ext>
                  </a:extLst>
                </a:gridCol>
              </a:tblGrid>
              <a:tr h="1213360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200" kern="100" dirty="0">
                          <a:effectLst/>
                        </a:rPr>
                        <a:t>Before Preprocessing (Raw)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After Preprocessing (Unified Text)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9533679"/>
                  </a:ext>
                </a:extLst>
              </a:tr>
              <a:tr h="2444240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200" kern="100">
                          <a:effectLst/>
                        </a:rPr>
                        <a:t>"@puuscfeiin this nigga said i’m... in atlanta🤣🤣 check this link http://t.co/xyz #LOL"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"this nigga said </a:t>
                      </a:r>
                      <a:r>
                        <a:rPr lang="en-IN" sz="1200" kern="100" dirty="0" err="1">
                          <a:effectLst/>
                        </a:rPr>
                        <a:t>i’m</a:t>
                      </a:r>
                      <a:r>
                        <a:rPr lang="en-IN" sz="1200" kern="100" dirty="0">
                          <a:effectLst/>
                        </a:rPr>
                        <a:t>... in </a:t>
                      </a:r>
                      <a:r>
                        <a:rPr lang="en-IN" sz="1200" kern="100" dirty="0" err="1">
                          <a:effectLst/>
                        </a:rPr>
                        <a:t>atlanta</a:t>
                      </a:r>
                      <a:r>
                        <a:rPr lang="en-IN" sz="1200" kern="100" dirty="0">
                          <a:effectLst/>
                        </a:rPr>
                        <a:t> [CAPTION] A man smiling in Atlanta [ALT] A person in a city background"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940932"/>
                  </a:ext>
                </a:extLst>
              </a:tr>
            </a:tbl>
          </a:graphicData>
        </a:graphic>
      </p:graphicFrame>
      <p:sp>
        <p:nvSpPr>
          <p:cNvPr id="14" name="object 3">
            <a:extLst>
              <a:ext uri="{FF2B5EF4-FFF2-40B4-BE49-F238E27FC236}">
                <a16:creationId xmlns:a16="http://schemas.microsoft.com/office/drawing/2014/main" id="{2732BC2F-5E66-84BE-307E-FF656B21804C}"/>
              </a:ext>
            </a:extLst>
          </p:cNvPr>
          <p:cNvSpPr txBox="1"/>
          <p:nvPr/>
        </p:nvSpPr>
        <p:spPr>
          <a:xfrm>
            <a:off x="917575" y="5205734"/>
            <a:ext cx="7235825" cy="96180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Original Tweet + [CAPTION] Caption A + [ALT] Caption B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06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43905-D00D-33B4-F512-F98EA43E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5A992A-91FF-4149-0D76-E1A7C1CE88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261387"/>
            <a:ext cx="9601201" cy="819454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PREPROCESSING: IMAGE</a:t>
            </a:r>
            <a:endParaRPr lang="en-US"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B26E7AF-BF2E-928B-7308-76E06E57978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2582556-15BF-9ADF-4167-1A5993C9AAF5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A20DC42-06B1-FB07-6EA3-DFA972898FB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6FE8E6-31AF-9631-87E9-CA8ABFF679E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68A9546-7B70-D8E4-1652-02A2A5D9CB3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B424ED-9F1D-9073-31BE-8EA944618116}"/>
              </a:ext>
            </a:extLst>
          </p:cNvPr>
          <p:cNvSpPr txBox="1"/>
          <p:nvPr/>
        </p:nvSpPr>
        <p:spPr>
          <a:xfrm>
            <a:off x="542774" y="1066046"/>
            <a:ext cx="5448300" cy="194668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all images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 × 224 pixels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images to RGB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using ImageNet mean and standard deviation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 model generates contextual image captions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features projected into text feature space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449CD7-C61D-E50A-13B6-C9EC17555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206269"/>
              </p:ext>
            </p:extLst>
          </p:nvPr>
        </p:nvGraphicFramePr>
        <p:xfrm>
          <a:off x="6282041" y="1295400"/>
          <a:ext cx="5372101" cy="4354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7156">
                  <a:extLst>
                    <a:ext uri="{9D8B030D-6E8A-4147-A177-3AD203B41FA5}">
                      <a16:colId xmlns:a16="http://schemas.microsoft.com/office/drawing/2014/main" val="173350004"/>
                    </a:ext>
                  </a:extLst>
                </a:gridCol>
                <a:gridCol w="2814945">
                  <a:extLst>
                    <a:ext uri="{9D8B030D-6E8A-4147-A177-3AD203B41FA5}">
                      <a16:colId xmlns:a16="http://schemas.microsoft.com/office/drawing/2014/main" val="3975215544"/>
                    </a:ext>
                  </a:extLst>
                </a:gridCol>
              </a:tblGrid>
              <a:tr h="1153586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Preprocessing 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337D5F"/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Preprocessing 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337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533679"/>
                  </a:ext>
                </a:extLst>
              </a:tr>
              <a:tr h="3200698"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Images had varying resolutions (from small thumbnails to large images).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Some images were noisy, blurred, or contained unnecessary background.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Raw image bytes were inconsistent in format (PNG, JPEG, etc.).</a:t>
                      </a:r>
                    </a:p>
                  </a:txBody>
                  <a:tcPr marL="9525" marR="9525" marT="9525" marB="9525" anchor="ctr">
                    <a:solidFill>
                      <a:srgbClr val="337D5F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 images were standardized to 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224×224 resolution</a:t>
                      </a: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Converted to 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RGB format</a:t>
                      </a: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consistency.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Normalized using ImageNet statistics (mean=[0.485, 0.456, 0.406], std=[0.229, 0.224, 0.225]).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Augmentations such as random flipping, cropping, and rotations were applied during training to improve generalization.</a:t>
                      </a:r>
                    </a:p>
                  </a:txBody>
                  <a:tcPr marL="9525" marR="9525" marT="9525" marB="9525" anchor="ctr">
                    <a:solidFill>
                      <a:srgbClr val="337D5F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4093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ACAC143-AAB3-BA9E-F9D8-0B674F3C1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3200400"/>
            <a:ext cx="4416425" cy="285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03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190518"/>
            <a:ext cx="4517137" cy="910506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lang="en-IN" sz="3950" dirty="0"/>
              <a:t>ARCHITECTURE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51A8EC3F-DACC-79F5-25F1-148D5A704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954" y="1295400"/>
            <a:ext cx="3740244" cy="43636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56E66BAE-E041-7CBA-04C4-5F73236F0975}"/>
              </a:ext>
            </a:extLst>
          </p:cNvPr>
          <p:cNvSpPr txBox="1"/>
          <p:nvPr/>
        </p:nvSpPr>
        <p:spPr>
          <a:xfrm>
            <a:off x="685800" y="1295400"/>
            <a:ext cx="6897975" cy="440889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Overview: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+ image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image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Base64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preprocessing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input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 (image)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embeddings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features via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inter-modal attention +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assignment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final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 / non-bullying result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confidence score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Highlights: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bullying label, confidence, and severity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real-time adaptable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4405" y="1312856"/>
            <a:ext cx="5349187" cy="1538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60960" rIns="0" bIns="0" rtlCol="0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Approaches (BERT + BLIP)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emojis, URLs, hashtags, mentions, and punctuation. Convert all text to lowercase.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using the BERT tokenizer and truncate to 128 tokens.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every images to 224 * 224 pixels.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3F00D-AAA0-57F3-BA12-2785A73740FF}"/>
                  </a:ext>
                </a:extLst>
              </p:cNvPr>
              <p:cNvSpPr txBox="1"/>
              <p:nvPr/>
            </p:nvSpPr>
            <p:spPr>
              <a:xfrm>
                <a:off x="174288" y="3236858"/>
                <a:ext cx="5324224" cy="26185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Model Components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BERT Encoder: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 input is encoded to a 768-dimensional feature vector: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>
                              <a:solidFill>
                                <a:schemeClr val="dk1"/>
                              </a:solidFill>
                            </a:rPr>
                            <m:t>text</m:t>
                          </m:r>
                        </m:sub>
                      </m:sSub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BERT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CLS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]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input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text</m:t>
                              </m:r>
                            </m:sub>
                          </m:sSub>
                        </m:e>
                      </m:d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𝟟𝟞𝟠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b="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BLIP Encoder: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are processed with BLIP to produce contextual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ptions embedding projected into the text feature space: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</m:sub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BLIP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input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img</m:t>
                              </m:r>
                            </m:sub>
                          </m:sSub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𝟟𝟞𝟠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3F00D-AAA0-57F3-BA12-2785A7374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88" y="3236858"/>
                <a:ext cx="5324224" cy="2618537"/>
              </a:xfrm>
              <a:prstGeom prst="rect">
                <a:avLst/>
              </a:prstGeom>
              <a:blipFill>
                <a:blip r:embed="rId2"/>
                <a:stretch>
                  <a:fillRect l="-1031" t="-698" r="-9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01180A-D05D-39E1-D4D1-69596B4D267D}"/>
                  </a:ext>
                </a:extLst>
              </p:cNvPr>
              <p:cNvSpPr txBox="1"/>
              <p:nvPr/>
            </p:nvSpPr>
            <p:spPr>
              <a:xfrm>
                <a:off x="5772386" y="1307425"/>
                <a:ext cx="6096000" cy="17702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b="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Inter-Modal Attention: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Aligns two modules using scaled dot-product attention: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Attention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1400">
                          <a:solidFill>
                            <a:schemeClr val="dk1"/>
                          </a:solidFill>
                        </a:rPr>
                        <m:t>softmax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N" sz="1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N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IN" sz="1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IN" sz="1400" dirty="0">
                  <a:cs typeface="+mj-cs"/>
                </a:endParaRPr>
              </a:p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Fusion: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attended features are concatenated: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400">
                              <a:solidFill>
                                <a:schemeClr val="dk1"/>
                              </a:solidFill>
                            </a:rPr>
                            <m:t>fused</m:t>
                          </m:r>
                        </m:sub>
                      </m:sSub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Att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text</m:t>
                              </m:r>
                            </m:sub>
                          </m:s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Att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1400">
                                  <a:solidFill>
                                    <a:schemeClr val="dk1"/>
                                  </a:solidFill>
                                </a:rPr>
                                <m:t>img</m:t>
                              </m:r>
                            </m:sub>
                          </m:sSub>
                        </m:e>
                      </m:d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𝟙𝟝𝟛𝟞</m:t>
                          </m:r>
                        </m:sup>
                      </m:sSup>
                    </m:oMath>
                  </m:oMathPara>
                </a14:m>
                <a:endParaRPr lang="ar-AE" sz="1400" dirty="0">
                  <a:cs typeface="+mj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01180A-D05D-39E1-D4D1-69596B4D2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386" y="1307425"/>
                <a:ext cx="6096000" cy="1770228"/>
              </a:xfrm>
              <a:prstGeom prst="rect">
                <a:avLst/>
              </a:prstGeom>
              <a:blipFill>
                <a:blip r:embed="rId3"/>
                <a:stretch>
                  <a:fillRect l="-900" t="-17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36067A-211A-11AF-64EA-3BFD09D615C6}"/>
                  </a:ext>
                </a:extLst>
              </p:cNvPr>
              <p:cNvSpPr txBox="1"/>
              <p:nvPr/>
            </p:nvSpPr>
            <p:spPr>
              <a:xfrm>
                <a:off x="5810216" y="3165877"/>
                <a:ext cx="6096000" cy="2587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 and Output: The final layer produces binary classification along with structured metadata: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𝑓𝑐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𝑓𝑐</m:t>
                              </m:r>
                            </m:sub>
                          </m:sSub>
                        </m:e>
                      </m:d>
                      <m:r>
                        <a:rPr lang="en-IN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• </a:t>
                </a:r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structure: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is bullying (Boolean)”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confidence (float)”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severity (string)”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categories (array)”</a:t>
                </a:r>
              </a:p>
              <a:p>
                <a:r>
                  <a:rPr lang="en-IN" sz="1600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–” image description (BLIP-generated)”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36067A-211A-11AF-64EA-3BFD09D61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16" y="3165877"/>
                <a:ext cx="6096000" cy="2587183"/>
              </a:xfrm>
              <a:prstGeom prst="rect">
                <a:avLst/>
              </a:prstGeom>
              <a:blipFill>
                <a:blip r:embed="rId4"/>
                <a:stretch>
                  <a:fillRect l="-800" t="-1176" b="-1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45F21B-2D69-9375-E98D-04CAC3284604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019613-1AF1-C736-4D1A-CE05B2C4A661}"/>
              </a:ext>
            </a:extLst>
          </p:cNvPr>
          <p:cNvCxnSpPr>
            <a:cxnSpLocks/>
          </p:cNvCxnSpPr>
          <p:nvPr/>
        </p:nvCxnSpPr>
        <p:spPr>
          <a:xfrm>
            <a:off x="0" y="5791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7F38E0-C5B2-80FC-E13A-ACDD458F03DB}"/>
              </a:ext>
            </a:extLst>
          </p:cNvPr>
          <p:cNvCxnSpPr/>
          <p:nvPr/>
        </p:nvCxnSpPr>
        <p:spPr>
          <a:xfrm>
            <a:off x="0" y="312420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F96337-EEAB-1FC2-91CF-8BB223A15321}"/>
              </a:ext>
            </a:extLst>
          </p:cNvPr>
          <p:cNvCxnSpPr>
            <a:cxnSpLocks/>
          </p:cNvCxnSpPr>
          <p:nvPr/>
        </p:nvCxnSpPr>
        <p:spPr>
          <a:xfrm>
            <a:off x="5672799" y="1219200"/>
            <a:ext cx="0" cy="457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D63E810F-A732-BE04-924D-51495F746EB7}"/>
              </a:ext>
            </a:extLst>
          </p:cNvPr>
          <p:cNvSpPr txBox="1">
            <a:spLocks/>
          </p:cNvSpPr>
          <p:nvPr/>
        </p:nvSpPr>
        <p:spPr>
          <a:xfrm>
            <a:off x="1273902" y="5907000"/>
            <a:ext cx="947029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‘R’ just means the vector is made up of normal real numbers, representing the numeric features used by the model.</a:t>
            </a:r>
            <a:endParaRPr lang="en-IN" sz="1600" dirty="0"/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392D-5BF5-3FCE-0A5E-D54F3776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10 Types of Cyberbullying - Blog">
            <a:extLst>
              <a:ext uri="{FF2B5EF4-FFF2-40B4-BE49-F238E27FC236}">
                <a16:creationId xmlns:a16="http://schemas.microsoft.com/office/drawing/2014/main" id="{DC79D00C-7EBF-B04A-BD54-26A409516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389" y="1612112"/>
            <a:ext cx="2529611" cy="169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6CA8241-4588-B70B-6812-CA1A7EEAD2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z="3500" spc="-10" dirty="0"/>
              <a:t>METHODOLOGY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DF4F69C-22E8-BB6C-4E23-E97057B1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0598" y="1082233"/>
            <a:ext cx="6731791" cy="503059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IN" sz="2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Inter-Modal Attention Fusion Mechanism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A2A34F4B-48BC-631F-1DC9-33F1FAB54ACE}"/>
                  </a:ext>
                </a:extLst>
              </p:cNvPr>
              <p:cNvSpPr>
                <a:spLocks noGrp="1"/>
              </p:cNvSpPr>
              <p:nvPr>
                <p:ph sz="half" idx="3"/>
              </p:nvPr>
            </p:nvSpPr>
            <p:spPr>
              <a:xfrm>
                <a:off x="154033" y="1646104"/>
                <a:ext cx="5756697" cy="4506811"/>
              </a:xfrm>
            </p:spPr>
            <p:txBody>
              <a:bodyPr/>
              <a:lstStyle/>
              <a:p>
                <a:r>
                  <a:rPr lang="en-IN" sz="1600" dirty="0"/>
                  <a:t>This is the standard </a:t>
                </a:r>
                <a:r>
                  <a:rPr lang="en-IN" sz="1600" b="1" dirty="0"/>
                  <a:t>Scaled Dot-Product Attention</a:t>
                </a:r>
                <a:r>
                  <a:rPr lang="en-IN" sz="1600" dirty="0"/>
                  <a:t> that aligns two modalities.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b="1" dirty="0"/>
                  <a:t>Queries (Q)</a:t>
                </a:r>
                <a:r>
                  <a:rPr lang="en-IN" sz="1600" dirty="0"/>
                  <a:t> come from one modality (e.g., text)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b="1" dirty="0"/>
                  <a:t>Keys (K)</a:t>
                </a:r>
                <a:r>
                  <a:rPr lang="en-IN" sz="1600" dirty="0"/>
                  <a:t> and </a:t>
                </a:r>
                <a:r>
                  <a:rPr lang="en-IN" sz="1600" b="1" dirty="0"/>
                  <a:t>Values (V)</a:t>
                </a:r>
                <a:r>
                  <a:rPr lang="en-IN" sz="1600" dirty="0"/>
                  <a:t> come from the other (e.g., image)</a:t>
                </a:r>
              </a:p>
              <a:p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ar-AE" sz="1600" dirty="0"/>
                  <a:t>→ </a:t>
                </a:r>
                <a:r>
                  <a:rPr lang="en-IN" sz="1600" dirty="0"/>
                  <a:t>Measures </a:t>
                </a:r>
                <a:r>
                  <a:rPr lang="en-IN" sz="1600" b="1" dirty="0"/>
                  <a:t>how relevant each image feature is to the text (or vice versa)</a:t>
                </a:r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SoftMax turns these into </a:t>
                </a:r>
                <a:r>
                  <a:rPr lang="en-IN" sz="1600" b="1" dirty="0"/>
                  <a:t>attention weights</a:t>
                </a:r>
                <a:endParaRPr lang="en-I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Multiplying by </a:t>
                </a:r>
                <a:r>
                  <a:rPr lang="en-IN" sz="1600" b="1" dirty="0"/>
                  <a:t>V</a:t>
                </a:r>
                <a:r>
                  <a:rPr lang="en-IN" sz="1600" dirty="0"/>
                  <a:t> creates a </a:t>
                </a:r>
                <a:r>
                  <a:rPr lang="en-IN" sz="1600" b="1" dirty="0"/>
                  <a:t>focused, weighted representation</a:t>
                </a:r>
                <a:endParaRPr lang="en-IN" sz="2000" b="1" dirty="0"/>
              </a:p>
              <a:p>
                <a:r>
                  <a:rPr lang="en-IN" sz="2000" b="1" dirty="0"/>
                  <a:t>Fusion:</a:t>
                </a:r>
              </a:p>
              <a:p>
                <a:r>
                  <a:rPr lang="en-US" sz="1600" dirty="0"/>
                  <a:t>After inter-modal attention, we get: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Text-aware image features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Image-aware text features</a:t>
                </a:r>
              </a:p>
              <a:p>
                <a:r>
                  <a:rPr lang="en-US" sz="1600" dirty="0"/>
                  <a:t>These are </a:t>
                </a:r>
                <a:r>
                  <a:rPr lang="en-US" sz="1600" b="1" dirty="0"/>
                  <a:t>concatenated</a:t>
                </a:r>
                <a:r>
                  <a:rPr lang="en-US" sz="1600" dirty="0"/>
                  <a:t> (joined together)</a:t>
                </a:r>
              </a:p>
              <a:p>
                <a:r>
                  <a:rPr lang="en-US" sz="1600" dirty="0"/>
                  <a:t>If each feature is </a:t>
                </a:r>
                <a:r>
                  <a:rPr lang="en-US" sz="1600" b="1" dirty="0"/>
                  <a:t>768-D</a:t>
                </a:r>
                <a:r>
                  <a:rPr lang="en-US" sz="1600" dirty="0"/>
                  <a:t>, concatenation gives </a:t>
                </a:r>
                <a:r>
                  <a:rPr lang="en-US" sz="1600" b="1" dirty="0"/>
                  <a:t>1536-D</a:t>
                </a:r>
                <a:r>
                  <a:rPr lang="en-US" sz="1600" dirty="0"/>
                  <a:t> final fused vector.</a:t>
                </a:r>
              </a:p>
              <a:p>
                <a:endParaRPr lang="en-IN" sz="2000" b="1" dirty="0"/>
              </a:p>
            </p:txBody>
          </p:sp>
        </mc:Choice>
        <mc:Fallback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A2A34F4B-48BC-631F-1DC9-33F1FAB54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3"/>
              </p:nvPr>
            </p:nvSpPr>
            <p:spPr>
              <a:xfrm>
                <a:off x="154033" y="1646104"/>
                <a:ext cx="5756697" cy="4506811"/>
              </a:xfrm>
              <a:blipFill>
                <a:blip r:embed="rId3"/>
                <a:stretch>
                  <a:fillRect l="-2646" t="-1353" r="-3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>
            <a:extLst>
              <a:ext uri="{FF2B5EF4-FFF2-40B4-BE49-F238E27FC236}">
                <a16:creationId xmlns:a16="http://schemas.microsoft.com/office/drawing/2014/main" id="{1D93B1CB-6037-5765-7FD0-7C9EDB00BA3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A38F2D0-B9BC-545F-D70A-A9ED62CEF03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C3E4A72-85C5-084C-BA1A-77C053A1C11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24CE645-54FA-74FF-A2B9-21E12031204B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64877BF-3C64-D05A-8E90-86CB67E0A28D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FE6880-33C1-91DF-962C-3EC069D7CBF8}"/>
              </a:ext>
            </a:extLst>
          </p:cNvPr>
          <p:cNvCxnSpPr/>
          <p:nvPr/>
        </p:nvCxnSpPr>
        <p:spPr>
          <a:xfrm>
            <a:off x="0" y="1600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DD45D7-141C-2264-A78B-4DF8F1CFC3F2}"/>
              </a:ext>
            </a:extLst>
          </p:cNvPr>
          <p:cNvCxnSpPr>
            <a:cxnSpLocks/>
          </p:cNvCxnSpPr>
          <p:nvPr/>
        </p:nvCxnSpPr>
        <p:spPr>
          <a:xfrm>
            <a:off x="0" y="61722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7019D2-7886-E3C0-A747-2ADD4FAC8031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0" cy="457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3CFD5CA3-2CB3-AE76-305C-3175CEB80E12}"/>
              </a:ext>
            </a:extLst>
          </p:cNvPr>
          <p:cNvSpPr txBox="1">
            <a:spLocks/>
          </p:cNvSpPr>
          <p:nvPr/>
        </p:nvSpPr>
        <p:spPr>
          <a:xfrm>
            <a:off x="6203437" y="1685348"/>
            <a:ext cx="5834530" cy="44319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Text Provided by User</a:t>
            </a:r>
          </a:p>
          <a:p>
            <a:r>
              <a:rPr lang="en-US" sz="1600" dirty="0"/>
              <a:t>“This loser should stop posting selfies. </a:t>
            </a:r>
          </a:p>
          <a:p>
            <a:r>
              <a:rPr lang="en-US" sz="1600" dirty="0"/>
              <a:t>Nobody wants to see your stupid face.”</a:t>
            </a:r>
          </a:p>
          <a:p>
            <a:r>
              <a:rPr lang="en-US" sz="1600" b="1" dirty="0"/>
              <a:t>Image Provided by User</a:t>
            </a:r>
          </a:p>
          <a:p>
            <a:r>
              <a:rPr lang="en-US" sz="1600" dirty="0"/>
              <a:t>(Example shown above — assume it is </a:t>
            </a:r>
          </a:p>
          <a:p>
            <a:r>
              <a:rPr lang="en-US" sz="1600" dirty="0"/>
              <a:t>a picture of a person posting a selfie.)</a:t>
            </a:r>
          </a:p>
          <a:p>
            <a:endParaRPr lang="en-IN" sz="1600" dirty="0"/>
          </a:p>
          <a:p>
            <a:r>
              <a:rPr lang="en-US" sz="1600" dirty="0"/>
              <a:t>Now the model </a:t>
            </a:r>
            <a:r>
              <a:rPr lang="en-US" sz="1600" b="1" dirty="0"/>
              <a:t>(Inter-Modal Attention) </a:t>
            </a:r>
            <a:r>
              <a:rPr lang="en-US" sz="1600" dirty="0"/>
              <a:t>tries to understand: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“How does the text relate to the image?”</a:t>
            </a:r>
          </a:p>
          <a:p>
            <a:r>
              <a:rPr lang="en-US" sz="1600" b="1" dirty="0"/>
              <a:t>Example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text insults someone taking a selfie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Image shows a person taking a selfie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alignment → HIGH bullying probability</a:t>
            </a:r>
          </a:p>
          <a:p>
            <a:r>
              <a:rPr lang="en-US" sz="1600" dirty="0"/>
              <a:t>Attention checks: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Does the word </a:t>
            </a:r>
            <a:r>
              <a:rPr lang="en-US" sz="1600" b="1" dirty="0"/>
              <a:t>“loser”</a:t>
            </a:r>
            <a:r>
              <a:rPr lang="en-US" sz="1600" dirty="0"/>
              <a:t> relate to the person in image? →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Does “stupid face” refer to the face in the photo? → Yes</a:t>
            </a:r>
          </a:p>
          <a:p>
            <a:r>
              <a:rPr lang="en-US" sz="1600" dirty="0"/>
              <a:t>The model strengthens this relationship using attention weights.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1642053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F229C-8728-27ED-E428-0FCDF624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549E54-8EFB-CB9D-5E07-E3F4433B5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9144" y="406950"/>
            <a:ext cx="6868256" cy="841256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FUSION &amp; CLASSIFICATION</a:t>
            </a:r>
            <a:endParaRPr sz="35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D2A1D5-721E-4B19-1E02-8CE2CECB41C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E0F26D-F8F5-EA6A-1F77-535CF3A26784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9EC13C-8326-7A2D-8042-3196AAC658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93A7B15-667C-7A5C-6F10-8D01FFEC56B1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8EB8387-041A-426A-A9DB-FE152C16E7D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1265092A-FF69-13DA-19A2-37BB70725A61}"/>
                  </a:ext>
                </a:extLst>
              </p:cNvPr>
              <p:cNvSpPr txBox="1"/>
              <p:nvPr/>
            </p:nvSpPr>
            <p:spPr>
              <a:xfrm>
                <a:off x="812079" y="1447800"/>
                <a:ext cx="4971748" cy="4245265"/>
              </a:xfrm>
              <a:prstGeom prst="rect">
                <a:avLst/>
              </a:prstGeom>
            </p:spPr>
            <p:txBody>
              <a:bodyPr vert="horz" wrap="square" lIns="0" tIns="99060" rIns="0" bIns="0" rtlCol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Fusion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receives:</a:t>
                </a:r>
              </a:p>
              <a:p>
                <a:pPr lvl="7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attended text vector → </a:t>
                </a:r>
                <a:r>
                  <a:rPr lang="en-IN" sz="2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Att_text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attended image vector → </a:t>
                </a:r>
                <a:r>
                  <a:rPr lang="en-IN" sz="2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Att_img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are concatenated to form a single representation: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200"/>
                          </m:ctrlPr>
                        </m:sSubPr>
                        <m:e>
                          <m:r>
                            <a:rPr lang="ar-AE" sz="2200" i="1"/>
                            <m:t>𝑥</m:t>
                          </m:r>
                        </m:e>
                        <m:sub>
                          <m:r>
                            <a:rPr lang="ar-AE" sz="2200" i="1"/>
                            <m:t>𝑓𝑢𝑠𝑒𝑑</m:t>
                          </m:r>
                        </m:sub>
                      </m:sSub>
                      <m:r>
                        <a:rPr lang="ar-AE" sz="2200"/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sz="2200" i="1"/>
                          </m:ctrlPr>
                        </m:dPr>
                        <m:e>
                          <m:r>
                            <a:rPr lang="ar-AE" sz="2200" i="1"/>
                            <m:t>𝐴</m:t>
                          </m:r>
                        </m:e>
                        <m:e>
                          <m:r>
                            <a:rPr lang="ar-AE" sz="2200" i="1"/>
                            <m:t>𝑡</m:t>
                          </m:r>
                          <m:sSub>
                            <m:sSubPr>
                              <m:ctrlPr>
                                <a:rPr lang="ar-AE" sz="2200" i="1"/>
                              </m:ctrlPr>
                            </m:sSubPr>
                            <m:e>
                              <m:r>
                                <a:rPr lang="ar-AE" sz="2200" i="1"/>
                                <m:t>𝑡</m:t>
                              </m:r>
                            </m:e>
                            <m:sub>
                              <m:r>
                                <a:rPr lang="ar-AE" sz="2200" i="1"/>
                                <m:t>𝑡𝑒𝑥𝑡</m:t>
                              </m:r>
                            </m:sub>
                          </m:sSub>
                          <m:r>
                            <a:rPr lang="ar-AE" sz="2200" i="1"/>
                            <m:t>𝐴𝑡</m:t>
                          </m:r>
                          <m:sSub>
                            <m:sSubPr>
                              <m:ctrlPr>
                                <a:rPr lang="ar-AE" sz="2200" i="1"/>
                              </m:ctrlPr>
                            </m:sSubPr>
                            <m:e>
                              <m:r>
                                <a:rPr lang="ar-AE" sz="2200" i="1"/>
                                <m:t>𝑡</m:t>
                              </m:r>
                            </m:e>
                            <m:sub>
                              <m:r>
                                <a:rPr lang="ar-AE" sz="2200" i="1"/>
                                <m:t>𝑖𝑚𝑔</m:t>
                              </m:r>
                            </m:sub>
                          </m:sSub>
                        </m:e>
                      </m:d>
                      <m:r>
                        <a:rPr lang="ar-AE" sz="2200"/>
                        <m:t>∈</m:t>
                      </m:r>
                      <m:sSup>
                        <m:sSupPr>
                          <m:ctrlPr>
                            <a:rPr lang="ar-AE" sz="2200" i="1"/>
                          </m:ctrlPr>
                        </m:sSupPr>
                        <m:e>
                          <m:r>
                            <a:rPr lang="ar-AE" sz="2200" i="1"/>
                            <m:t>𝑅</m:t>
                          </m:r>
                        </m:e>
                        <m:sup>
                          <m:r>
                            <a:rPr lang="ar-AE" sz="2200"/>
                            <m:t>1536</m:t>
                          </m:r>
                        </m:sup>
                      </m:sSup>
                    </m:oMath>
                  </m:oMathPara>
                </a14:m>
                <a:endParaRPr lang="ar-AE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fused vector contains:</a:t>
                </a:r>
              </a:p>
              <a:p>
                <a:pPr lvl="1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linguistic meaning from BERT</a:t>
                </a:r>
              </a:p>
              <a:p>
                <a:pPr lvl="1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visual context from BLIP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Enables joint understanding of post semantics.</a:t>
                </a:r>
              </a:p>
            </p:txBody>
          </p:sp>
        </mc:Choice>
        <mc:Fallback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1265092A-FF69-13DA-19A2-37BB70725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79" y="1447800"/>
                <a:ext cx="4971748" cy="4245265"/>
              </a:xfrm>
              <a:prstGeom prst="rect">
                <a:avLst/>
              </a:prstGeom>
              <a:blipFill>
                <a:blip r:embed="rId2"/>
                <a:stretch>
                  <a:fillRect l="-3676" r="-2328" b="-31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2C0B4241-D221-2487-38DC-6D41B7499531}"/>
                  </a:ext>
                </a:extLst>
              </p:cNvPr>
              <p:cNvSpPr txBox="1"/>
              <p:nvPr/>
            </p:nvSpPr>
            <p:spPr>
              <a:xfrm>
                <a:off x="6400799" y="1811858"/>
                <a:ext cx="4971748" cy="3234283"/>
              </a:xfrm>
              <a:prstGeom prst="rect">
                <a:avLst/>
              </a:prstGeom>
            </p:spPr>
            <p:txBody>
              <a:bodyPr vert="horz" wrap="square" lIns="0" tIns="99060" rIns="0" bIns="0" rtlCol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 Layer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fused features are passed to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BiLSTM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context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modeling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dense layer performs binary prediction: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200"/>
                          </m:ctrlPr>
                        </m:accPr>
                        <m:e>
                          <m:r>
                            <a:rPr lang="ar-AE" sz="2200" i="1"/>
                            <m:t>𝑦</m:t>
                          </m:r>
                        </m:e>
                      </m:acc>
                      <m:r>
                        <a:rPr lang="ar-AE" sz="2200"/>
                        <m:t>=</m:t>
                      </m:r>
                      <m:r>
                        <a:rPr lang="ar-AE" sz="2200" i="1"/>
                        <m:t>𝜎</m:t>
                      </m:r>
                      <m:d>
                        <m:dPr>
                          <m:ctrlPr>
                            <a:rPr lang="ar-AE" sz="2200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2200" i="1"/>
                              </m:ctrlPr>
                            </m:sSubPr>
                            <m:e>
                              <m:r>
                                <a:rPr lang="ar-AE" sz="2200" i="1"/>
                                <m:t>𝑊</m:t>
                              </m:r>
                            </m:e>
                            <m:sub>
                              <m:r>
                                <a:rPr lang="ar-AE" sz="2200" i="1"/>
                                <m:t>𝑓𝑐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200" i="1"/>
                              </m:ctrlPr>
                            </m:sSubPr>
                            <m:e>
                              <m:r>
                                <a:rPr lang="ar-AE" sz="2200" i="1"/>
                                <m:t>h</m:t>
                              </m:r>
                            </m:e>
                            <m:sub>
                              <m:r>
                                <a:rPr lang="ar-AE" sz="2200" i="1"/>
                                <m:t>𝑡</m:t>
                              </m:r>
                            </m:sub>
                          </m:sSub>
                          <m:r>
                            <a:rPr lang="ar-AE" sz="2200"/>
                            <m:t>+</m:t>
                          </m:r>
                          <m:sSub>
                            <m:sSubPr>
                              <m:ctrlPr>
                                <a:rPr lang="ar-AE" sz="2200" i="1"/>
                              </m:ctrlPr>
                            </m:sSubPr>
                            <m:e>
                              <m:r>
                                <a:rPr lang="ar-AE" sz="2200" i="1"/>
                                <m:t>𝑏</m:t>
                              </m:r>
                            </m:e>
                            <m:sub>
                              <m:r>
                                <a:rPr lang="ar-AE" sz="2200" i="1"/>
                                <m:t>𝑓𝑐</m:t>
                              </m:r>
                            </m:sub>
                          </m:sSub>
                        </m:e>
                      </m:d>
                      <m:r>
                        <a:rPr lang="ar-AE" sz="2200"/>
                        <m:t>, </m:t>
                      </m:r>
                      <m:acc>
                        <m:accPr>
                          <m:chr m:val="̂"/>
                          <m:ctrlPr>
                            <a:rPr lang="ar-AE" sz="2200" i="1"/>
                          </m:ctrlPr>
                        </m:accPr>
                        <m:e>
                          <m:r>
                            <a:rPr lang="ar-AE" sz="2200" i="1"/>
                            <m:t>𝑦</m:t>
                          </m:r>
                        </m:e>
                      </m:acc>
                      <m:r>
                        <a:rPr lang="ar-AE" sz="2200"/>
                        <m:t>∈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2200" i="1"/>
                          </m:ctrlPr>
                        </m:dPr>
                        <m:e>
                          <m:r>
                            <a:rPr lang="ar-AE" sz="2200"/>
                            <m:t>0</m:t>
                          </m:r>
                        </m:e>
                        <m:e>
                          <m:r>
                            <a:rPr lang="ar-AE" sz="2200"/>
                            <m:t>1</m:t>
                          </m:r>
                        </m:e>
                      </m:d>
                    </m:oMath>
                  </m:oMathPara>
                </a14:m>
                <a:endParaRPr lang="ar-AE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interpretation:</a:t>
                </a:r>
              </a:p>
              <a:p>
                <a:pPr lvl="1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value close to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→ bullying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- value close to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→ non-bullying</a:t>
                </a: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2C0B4241-D221-2487-38DC-6D41B7499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1811858"/>
                <a:ext cx="4971748" cy="3234283"/>
              </a:xfrm>
              <a:prstGeom prst="rect">
                <a:avLst/>
              </a:prstGeom>
              <a:blipFill>
                <a:blip r:embed="rId3"/>
                <a:stretch>
                  <a:fillRect l="-3676" b="-5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8E7E57-1A44-8EEE-283C-6B9005F69B22}"/>
              </a:ext>
            </a:extLst>
          </p:cNvPr>
          <p:cNvCxnSpPr/>
          <p:nvPr/>
        </p:nvCxnSpPr>
        <p:spPr>
          <a:xfrm>
            <a:off x="6096000" y="1248206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41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B2FA-9EAE-54AB-872D-C0910300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940544-3816-48F9-71D3-488185778D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1472" y="406950"/>
            <a:ext cx="5649056" cy="841256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STRUCTURED OUTPUT</a:t>
            </a:r>
            <a:endParaRPr sz="35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CDCCC9B-806D-AC19-BAE4-40EE36DB8F2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1ED0FC2-67ED-9A78-FD08-954138D38D92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92CAA0B-03CB-3A42-D1E0-413B64C7B8A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B5A86A-E9A8-EC78-A0F6-EEA0997CA8A4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B022D4B-CFBB-7E98-BC01-92C7CCE1547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B528A91-AA4E-0DBF-8028-0DFC5A7F418D}"/>
              </a:ext>
            </a:extLst>
          </p:cNvPr>
          <p:cNvSpPr txBox="1"/>
          <p:nvPr/>
        </p:nvSpPr>
        <p:spPr>
          <a:xfrm>
            <a:off x="1066800" y="1595782"/>
            <a:ext cx="4548402" cy="317779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bullying / not-bullying label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confidence score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severity level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category of abuse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BLIP image description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 image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👉👉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708187-E0D5-713E-4741-218AD27AF1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4000"/>
            <a:ext cx="493183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13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5C04-B42B-BC5A-B6D6-F3968332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0CD87D-0C73-AFC0-C1B1-CB5B28F7D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00" y="184536"/>
            <a:ext cx="6848379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INPUT ROUTING STRATEGY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82F665-F22E-9613-C1DC-BF110092ADA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799D531-76DC-8841-183B-17EED7806107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58EF806-836D-3262-73DA-B5C52A3B52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4E8DE3-D6BA-2A05-FBF8-0368743D094A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0948470-8A4A-F6A8-55EB-17F2F10B715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612A352-0EC0-8BEA-C20C-018973100D31}"/>
              </a:ext>
            </a:extLst>
          </p:cNvPr>
          <p:cNvSpPr txBox="1"/>
          <p:nvPr/>
        </p:nvSpPr>
        <p:spPr>
          <a:xfrm>
            <a:off x="627101" y="1295400"/>
            <a:ext cx="5183471" cy="280846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Different Input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posts may contain: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only text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only image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both text and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dynamically selects the processing path.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7291B1-F676-1309-02CC-4293F60EB5A4}"/>
              </a:ext>
            </a:extLst>
          </p:cNvPr>
          <p:cNvSpPr txBox="1"/>
          <p:nvPr/>
        </p:nvSpPr>
        <p:spPr>
          <a:xfrm>
            <a:off x="6381429" y="1264865"/>
            <a:ext cx="5505771" cy="31470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Mechanism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Text-only input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forwarded to BERT encoder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Image-only input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forwarded to BLIP encoder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both encoders activated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inter-modal attention applied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fused representation generated</a:t>
            </a:r>
            <a:endParaRPr lang="en-IN" sz="2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50CE68E-701F-1236-613B-330614799D16}"/>
              </a:ext>
            </a:extLst>
          </p:cNvPr>
          <p:cNvSpPr txBox="1"/>
          <p:nvPr/>
        </p:nvSpPr>
        <p:spPr>
          <a:xfrm>
            <a:off x="732373" y="4267200"/>
            <a:ext cx="5810571" cy="145424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 of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flexibility for real-world scenarios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even when one modality is missing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consistent prediction pipeline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909FD0-4AAD-5EB0-18CD-B6CE54CC6169}"/>
              </a:ext>
            </a:extLst>
          </p:cNvPr>
          <p:cNvCxnSpPr/>
          <p:nvPr/>
        </p:nvCxnSpPr>
        <p:spPr>
          <a:xfrm>
            <a:off x="6132210" y="1143000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162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178313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914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</a:t>
            </a:r>
            <a:r>
              <a:rPr lang="en-US" spc="-25" dirty="0"/>
              <a:t>.DB7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2924" y="1235720"/>
            <a:ext cx="4965272" cy="4462760"/>
          </a:xfrm>
          <a:prstGeom prst="rect">
            <a:avLst/>
          </a:prstGeom>
        </p:spPr>
        <p:txBody>
          <a:bodyPr vert="horz" wrap="square" lIns="0" tIns="60960" rIns="0" bIns="0" numCol="1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(Python, PyTorch)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MMHS150K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+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 encoding.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trained, validated, and saved as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cyberbullying_model.pth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(Windows)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PyTorch,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Pandas, NumPy, Matplotlib,…..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3CE67-B665-C062-4108-58FF9275814B}"/>
              </a:ext>
            </a:extLst>
          </p:cNvPr>
          <p:cNvSpPr txBox="1"/>
          <p:nvPr/>
        </p:nvSpPr>
        <p:spPr>
          <a:xfrm>
            <a:off x="5980256" y="1295400"/>
            <a:ext cx="609447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NVIDIA Tesla T4 (16 GB VRAM)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13 GB | Storage: 100 GB (Google Drive)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loss &amp; sampler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text and images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cleaning &amp; image resizing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stopping &amp; dropout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training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acceleration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038B5A-5EF9-1470-B1C3-680D747D6E52}"/>
              </a:ext>
            </a:extLst>
          </p:cNvPr>
          <p:cNvCxnSpPr/>
          <p:nvPr/>
        </p:nvCxnSpPr>
        <p:spPr>
          <a:xfrm>
            <a:off x="0" y="1143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6B5718-9887-84B1-60CE-7AD5B01F496B}"/>
              </a:ext>
            </a:extLst>
          </p:cNvPr>
          <p:cNvCxnSpPr>
            <a:cxnSpLocks/>
          </p:cNvCxnSpPr>
          <p:nvPr/>
        </p:nvCxnSpPr>
        <p:spPr>
          <a:xfrm>
            <a:off x="0" y="59436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58CE4-789D-8F50-73CD-947377767912}"/>
              </a:ext>
            </a:extLst>
          </p:cNvPr>
          <p:cNvCxnSpPr/>
          <p:nvPr/>
        </p:nvCxnSpPr>
        <p:spPr>
          <a:xfrm>
            <a:off x="5827410" y="1143000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DAA480-7055-E5E5-75C2-3E8BE7186C81}"/>
              </a:ext>
            </a:extLst>
          </p:cNvPr>
          <p:cNvCxnSpPr/>
          <p:nvPr/>
        </p:nvCxnSpPr>
        <p:spPr>
          <a:xfrm>
            <a:off x="0" y="3733800"/>
            <a:ext cx="58274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E98E52-C0AD-C58F-444B-E1A39495856C}"/>
              </a:ext>
            </a:extLst>
          </p:cNvPr>
          <p:cNvCxnSpPr/>
          <p:nvPr/>
        </p:nvCxnSpPr>
        <p:spPr>
          <a:xfrm>
            <a:off x="5827410" y="2743200"/>
            <a:ext cx="63645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curve&#10;&#10;AI-generated content may be incorrect.">
            <a:extLst>
              <a:ext uri="{FF2B5EF4-FFF2-40B4-BE49-F238E27FC236}">
                <a16:creationId xmlns:a16="http://schemas.microsoft.com/office/drawing/2014/main" id="{8F8D1310-A50A-C964-4131-8E326B3ED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1066800"/>
            <a:ext cx="3627120" cy="2590800"/>
          </a:xfrm>
          <a:prstGeom prst="rect">
            <a:avLst/>
          </a:prstGeom>
        </p:spPr>
      </p:pic>
      <p:pic>
        <p:nvPicPr>
          <p:cNvPr id="13" name="Picture 12" descr="A graph of loss and validation&#10;&#10;AI-generated content may be incorrect.">
            <a:extLst>
              <a:ext uri="{FF2B5EF4-FFF2-40B4-BE49-F238E27FC236}">
                <a16:creationId xmlns:a16="http://schemas.microsoft.com/office/drawing/2014/main" id="{D1C16A44-0344-8D58-4919-781086221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3657600"/>
            <a:ext cx="3627120" cy="25908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E972B-9256-6CEA-9C4A-DDE8FBBC0DBD}"/>
              </a:ext>
            </a:extLst>
          </p:cNvPr>
          <p:cNvSpPr txBox="1"/>
          <p:nvPr/>
        </p:nvSpPr>
        <p:spPr>
          <a:xfrm>
            <a:off x="4495533" y="1307574"/>
            <a:ext cx="665100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Progress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Accuracy and Loss curves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how model performance improved over epochs.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Gradual decrease → effective learning.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Curve: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steadily → balanced accuracy.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applied to prevent overfitting once validation loss is stabilized.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F1 score achieved around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0.852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both precision and recall stability.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Insight: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convergence of loss curve shows good generalization.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rise in validation metrics indicates consistent learning.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518A-6977-167A-8D98-00A49CC0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EE7055-B76C-EE6F-08CC-92E7EE730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4C7190-8F23-7E3D-3258-59ECE8BB40B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EE467A-0007-6248-D5FC-035475F9AB5C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C5C05E2-116E-9B2A-A763-5B1B6F1C498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EB3C56-44F1-46F5-D60B-34645CDE98C2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4811474-3062-D6CB-ED56-6304320ACB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DC2D69-3A12-B1E9-E45E-0B5E45AA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1483468"/>
            <a:ext cx="3940013" cy="39400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7EAB21-4A9D-B3CA-C9C2-D3395F590F56}"/>
              </a:ext>
            </a:extLst>
          </p:cNvPr>
          <p:cNvSpPr txBox="1"/>
          <p:nvPr/>
        </p:nvSpPr>
        <p:spPr>
          <a:xfrm>
            <a:off x="5132618" y="1720840"/>
            <a:ext cx="67545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how well the model distinguishes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Non-Bullying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 Rate (FPR)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True Positive Rate (TPR)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(Area Under Curve)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close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strong model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achieved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AUC (&gt;0.912)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excellent separation capability between classes.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 near the top-left corner → better detection.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true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bots.</a:t>
            </a:r>
          </a:p>
        </p:txBody>
      </p:sp>
    </p:spTree>
    <p:extLst>
      <p:ext uri="{BB962C8B-B14F-4D97-AF65-F5344CB8AC3E}">
        <p14:creationId xmlns:p14="http://schemas.microsoft.com/office/powerpoint/2010/main" val="3534408831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D461-9373-4F98-542D-65B20412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C795EA-7F4D-E64C-3E42-36CD0200D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8737" y="197893"/>
            <a:ext cx="7315200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lang="en-IN" sz="3500" spc="-10" dirty="0"/>
              <a:t>CONFUSION MATRIX</a:t>
            </a:r>
            <a:endParaRPr sz="3500"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492ADD4-2932-9F5D-478E-5D2B028A988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EA5AA83-16E1-EE08-A177-9C33ACF40BE9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B488CBA-B3E1-4229-FE63-C489EC57E75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685E16-51F3-5CB3-E6C7-A8B87F176F8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C2086B9-B1D6-6B6F-52F7-02B1671B046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B325A-B5A8-E5EF-13C8-7E6705CC2843}"/>
              </a:ext>
            </a:extLst>
          </p:cNvPr>
          <p:cNvSpPr txBox="1"/>
          <p:nvPr/>
        </p:nvSpPr>
        <p:spPr>
          <a:xfrm>
            <a:off x="500781" y="1009713"/>
            <a:ext cx="658095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number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Negative rate shows strong bullying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classification between both classes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correctly distinguishes harmful and non-harmful posts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Misclassifications are minimal and mostly ambiguous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robustness of inter-modal attention fusion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reliability for real-world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risk of unfair content blocking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safety with accurate moderation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868CB-C170-B295-18EF-EF6C51642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38" y="1522471"/>
            <a:ext cx="4724399" cy="41451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601865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4D743-759F-D6FA-4C98-2903F986D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36B53E-FA33-DC9E-76C8-D45C493AC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00" y="184536"/>
            <a:ext cx="6848379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STRENGHTS &amp; CHALLENGES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79292C0-9628-60AD-AE09-7447CB315F5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4729A7-2689-0B90-8D33-FCBC0AEC6814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D5BEBDA-E5CA-554D-C4D0-0B4CDE51C87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A01A928-E97E-1776-9DFA-2A1BACFB6B35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05684A2-2862-EC0F-25F1-ABCB9451C06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4B6DC6E-5C2B-6E83-62E1-ADDD37F22E4D}"/>
              </a:ext>
            </a:extLst>
          </p:cNvPr>
          <p:cNvSpPr txBox="1"/>
          <p:nvPr/>
        </p:nvSpPr>
        <p:spPr>
          <a:xfrm>
            <a:off x="651616" y="994209"/>
            <a:ext cx="5444384" cy="319318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text and image semantics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Alignment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learns relation between words and visuals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Memes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sarcasm and implicit abuse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adaptable for large social media platforms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588A3A-DF22-4494-CF5D-5C99C7932571}"/>
              </a:ext>
            </a:extLst>
          </p:cNvPr>
          <p:cNvSpPr txBox="1"/>
          <p:nvPr/>
        </p:nvSpPr>
        <p:spPr>
          <a:xfrm>
            <a:off x="7035045" y="2009380"/>
            <a:ext cx="4515171" cy="283923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Loss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class imbalance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remove noise and slang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uniform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overfitting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BE0C34F9-6D59-6D58-395D-FDB576C168EB}"/>
              </a:ext>
            </a:extLst>
          </p:cNvPr>
          <p:cNvSpPr txBox="1"/>
          <p:nvPr/>
        </p:nvSpPr>
        <p:spPr>
          <a:xfrm>
            <a:off x="732373" y="4187391"/>
            <a:ext cx="5810571" cy="182357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bullying and non-bullying classes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Memes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complex or hidden meanings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GPU Cost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multimodal training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4A7C10-75FE-15F0-A526-FAB87C9943F0}"/>
              </a:ext>
            </a:extLst>
          </p:cNvPr>
          <p:cNvCxnSpPr/>
          <p:nvPr/>
        </p:nvCxnSpPr>
        <p:spPr>
          <a:xfrm>
            <a:off x="6776989" y="1376515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254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F7E7-F078-1AAA-CF97-A2DF245D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02EDFA-B954-B707-F8BF-D5039EF05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1800" y="227415"/>
            <a:ext cx="3638000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APPLICATIONS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3D9C74D-7BC5-54E0-3C5C-259D874626E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B35ADE4-7157-BA13-3EF2-132278B5DC6D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708387F-DFFD-B1A8-AF6C-B72FA587DC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501BFB-7CEA-DC50-F7A4-E686EE2D7FC7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0F088E9-28FF-6B67-5231-C8D05FF3D3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CE0434A-83EA-B855-F9C7-AB6064AED111}"/>
              </a:ext>
            </a:extLst>
          </p:cNvPr>
          <p:cNvSpPr txBox="1"/>
          <p:nvPr/>
        </p:nvSpPr>
        <p:spPr>
          <a:xfrm>
            <a:off x="483921" y="990600"/>
            <a:ext cx="5747550" cy="527067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Social Media Content Moderation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detection of abusive posts before publishing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filtering of harmful comments and memes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human moderators with priority-based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workload on large platforms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Online Safety for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student interactions in e-learning portals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cyberbullying among teenagers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mental health in school and college communities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counselors with evidence-based reports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FA427A-EBDA-1DCA-342D-7387C63C1B3C}"/>
              </a:ext>
            </a:extLst>
          </p:cNvPr>
          <p:cNvSpPr txBox="1"/>
          <p:nvPr/>
        </p:nvSpPr>
        <p:spPr>
          <a:xfrm>
            <a:off x="6629400" y="1073149"/>
            <a:ext cx="5078679" cy="5516895"/>
          </a:xfrm>
          <a:prstGeom prst="rect">
            <a:avLst/>
          </a:prstGeom>
          <a:ln>
            <a:noFill/>
            <a:prstDash val="solid"/>
          </a:ln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Community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administrators manage forums and discussion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 toxic behavior in public chats and live streams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healthy digital communication culture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escalation of online conflicts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Platform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Twitter/X moderation APIs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Instagram comment filters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YouTube live chat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Deployable as browser plugin or mobile service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152FB5-6E30-C476-BC59-23B5D05AF315}"/>
              </a:ext>
            </a:extLst>
          </p:cNvPr>
          <p:cNvCxnSpPr/>
          <p:nvPr/>
        </p:nvCxnSpPr>
        <p:spPr>
          <a:xfrm>
            <a:off x="6324600" y="1219200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17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A8B5-5708-1908-3D8E-F0505A4F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9B3052-3D80-7680-A3F0-89406A186B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91" y="3581400"/>
            <a:ext cx="4247809" cy="266700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624A6AC-6C10-48CC-2A58-802B36751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4" y="222285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683954A-E5F9-8B9A-8F2D-500C6138B6A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8A26F6-EF40-9F15-7D60-F895C2F4E399}"/>
              </a:ext>
            </a:extLst>
          </p:cNvPr>
          <p:cNvSpPr txBox="1"/>
          <p:nvPr/>
        </p:nvSpPr>
        <p:spPr>
          <a:xfrm>
            <a:off x="4429378" y="6451049"/>
            <a:ext cx="93362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EEB42D2-F56D-A85B-E99C-92ABC0D1460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FFF3092-4AEB-E9C7-FCDD-C16BD67788D8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C9F7399-A653-4273-405B-70F10B58C4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3E7C0-3DC0-FDBE-E73B-151A342D6005}"/>
              </a:ext>
            </a:extLst>
          </p:cNvPr>
          <p:cNvSpPr txBox="1"/>
          <p:nvPr/>
        </p:nvSpPr>
        <p:spPr>
          <a:xfrm>
            <a:off x="4724400" y="1136778"/>
            <a:ext cx="6781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Bullying: YES/NO Classification Results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the model’s predictions: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Orange/Red: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Bullying detected.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Bullying detected.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to detect bullying by analyzing abusive or hateful language in text and harmful or offensive cues in images through inter-modal attention.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 containing abusive language, hate speech, threats, or offensive images indicating harm or harassment.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Bullying: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 with neutral, friendly, or informative text and non-offensive images showing no intent to harm.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87.2%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Bullying or Not detection.</a:t>
            </a:r>
          </a:p>
        </p:txBody>
      </p:sp>
      <p:pic>
        <p:nvPicPr>
          <p:cNvPr id="15" name="Picture 14" descr="A screenshot of a website&#10;&#10;AI-generated content may be incorrect.">
            <a:extLst>
              <a:ext uri="{FF2B5EF4-FFF2-40B4-BE49-F238E27FC236}">
                <a16:creationId xmlns:a16="http://schemas.microsoft.com/office/drawing/2014/main" id="{2016A3F1-8F8B-AC60-2773-EACAE54D76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91" y="1136778"/>
            <a:ext cx="4247809" cy="27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9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1AE3-FA4B-F8E2-D5D1-F25DA8E2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6E9830-069C-968B-8D9E-A7FC81789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00" y="406951"/>
            <a:ext cx="6848379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EVALUATION METRICS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D771B5-6032-C085-045C-C380B69CA95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0AF038E-4E7F-1C49-AEBD-74E3B29AE20C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DF1FD7F-6F3C-D520-40BA-221D729B1F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E627882-A23A-FA79-9339-F1DA196BE00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64C43A4-0B77-50D4-9212-E01E969A838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4E75DE9-DA9F-9B87-E996-077057F405C6}"/>
              </a:ext>
            </a:extLst>
          </p:cNvPr>
          <p:cNvSpPr txBox="1"/>
          <p:nvPr/>
        </p:nvSpPr>
        <p:spPr>
          <a:xfrm>
            <a:off x="845444" y="1516938"/>
            <a:ext cx="5697500" cy="382412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overall correctness of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reliability of bullying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detect actual bullying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 between precision and recall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discrimination capability of the model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fair comparison with baseline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robustness across different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real-world applicability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72201799-0FDD-8C44-69E8-EA7F94AB5111}"/>
                  </a:ext>
                </a:extLst>
              </p:cNvPr>
              <p:cNvSpPr txBox="1"/>
              <p:nvPr/>
            </p:nvSpPr>
            <p:spPr>
              <a:xfrm>
                <a:off x="6542944" y="1835487"/>
                <a:ext cx="4016901" cy="3187026"/>
              </a:xfrm>
              <a:prstGeom prst="rect">
                <a:avLst/>
              </a:prstGeom>
            </p:spPr>
            <p:txBody>
              <a:bodyPr vert="horz" wrap="square" lIns="0" tIns="99060" rIns="0" bIns="0" rtlCol="0">
                <a:spAutoFit/>
              </a:bodyPr>
              <a:lstStyle/>
              <a:p>
                <a:r>
                  <a:rPr lang="en-IN" sz="1800" b="1" dirty="0"/>
                  <a:t>	</a:t>
                </a:r>
                <a14:m>
                  <m:oMath xmlns:m="http://schemas.openxmlformats.org/officeDocument/2006/math">
                    <m:r>
                      <a:rPr lang="en-IN" sz="1800" i="1"/>
                      <m:t>𝐴𝑐𝑐𝑢𝑟𝑎𝑐𝑦</m:t>
                    </m:r>
                    <m:r>
                      <a:rPr lang="en-IN" sz="1800"/>
                      <m:t>=</m:t>
                    </m:r>
                    <m:f>
                      <m:fPr>
                        <m:ctrlPr>
                          <a:rPr lang="en-IN" sz="1800" i="1"/>
                        </m:ctrlPr>
                      </m:fPr>
                      <m:num>
                        <m:r>
                          <a:rPr lang="en-IN" sz="1800" i="1"/>
                          <m:t>𝑇𝑃</m:t>
                        </m:r>
                        <m:r>
                          <a:rPr lang="en-IN" sz="1800" i="1"/>
                          <m:t>+</m:t>
                        </m:r>
                        <m:r>
                          <a:rPr lang="en-IN" sz="1800" i="1"/>
                          <m:t>𝑇𝑁</m:t>
                        </m:r>
                      </m:num>
                      <m:den>
                        <m:r>
                          <a:rPr lang="en-IN" sz="1800" i="1"/>
                          <m:t>𝑇𝑃</m:t>
                        </m:r>
                        <m:r>
                          <a:rPr lang="en-IN" sz="1800" i="1"/>
                          <m:t>+</m:t>
                        </m:r>
                        <m:r>
                          <a:rPr lang="en-IN" sz="1800" i="1"/>
                          <m:t>𝑇𝑁</m:t>
                        </m:r>
                        <m:r>
                          <a:rPr lang="en-IN" sz="1800"/>
                          <m:t>+</m:t>
                        </m:r>
                        <m:r>
                          <a:rPr lang="en-IN" sz="1800" i="1"/>
                          <m:t>𝐹𝑃</m:t>
                        </m:r>
                        <m:r>
                          <a:rPr lang="en-IN" sz="1800" i="1"/>
                          <m:t>+</m:t>
                        </m:r>
                        <m:r>
                          <a:rPr lang="en-IN" sz="1800" i="1"/>
                          <m:t>𝐹𝑁</m:t>
                        </m:r>
                      </m:den>
                    </m:f>
                  </m:oMath>
                </a14:m>
                <a:endParaRPr lang="en-IN" sz="1800" dirty="0"/>
              </a:p>
              <a:p>
                <a:endParaRPr lang="en-IN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/>
                        <m:t>𝑃𝑟𝑒𝑐𝑖𝑠𝑖𝑜𝑛</m:t>
                      </m:r>
                      <m:r>
                        <a:rPr lang="en-IN" sz="1800"/>
                        <m:t>=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sz="1800" i="1"/>
                            <m:t>𝑇𝑃</m:t>
                          </m:r>
                        </m:num>
                        <m:den>
                          <m:r>
                            <a:rPr lang="en-IN" sz="1800" i="1"/>
                            <m:t>𝑇𝑃</m:t>
                          </m:r>
                          <m:r>
                            <a:rPr lang="en-IN" sz="1800" i="1"/>
                            <m:t>+</m:t>
                          </m:r>
                          <m:r>
                            <a:rPr lang="en-IN" sz="1800" i="1"/>
                            <m:t>𝐹𝑃</m:t>
                          </m:r>
                        </m:den>
                      </m:f>
                    </m:oMath>
                  </m:oMathPara>
                </a14:m>
                <a:endParaRPr lang="en-IN" sz="1800" dirty="0"/>
              </a:p>
              <a:p>
                <a:endParaRPr lang="en-IN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/>
                        <m:t>𝑅𝑒𝑐𝑎𝑙𝑙</m:t>
                      </m:r>
                      <m:r>
                        <a:rPr lang="en-IN" sz="1800"/>
                        <m:t>=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sz="1800" i="1"/>
                            <m:t>𝑇𝑃</m:t>
                          </m:r>
                        </m:num>
                        <m:den>
                          <m:r>
                            <a:rPr lang="en-IN" sz="1800" i="1"/>
                            <m:t>𝑇𝑃</m:t>
                          </m:r>
                          <m:r>
                            <a:rPr lang="en-IN" sz="1800" i="1"/>
                            <m:t>+</m:t>
                          </m:r>
                          <m:r>
                            <a:rPr lang="en-IN" sz="1800" i="1"/>
                            <m:t>𝐹𝑁</m:t>
                          </m:r>
                        </m:den>
                      </m:f>
                    </m:oMath>
                  </m:oMathPara>
                </a14:m>
                <a:endParaRPr lang="en-IN" sz="1800" dirty="0"/>
              </a:p>
              <a:p>
                <a:endParaRPr lang="en-IN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/>
                        <m:t>𝐹</m:t>
                      </m:r>
                      <m:r>
                        <a:rPr lang="en-IN" sz="1800" i="1"/>
                        <m:t>1</m:t>
                      </m:r>
                      <m:r>
                        <a:rPr lang="en-IN" sz="1800"/>
                        <m:t>=</m:t>
                      </m:r>
                      <m:r>
                        <a:rPr lang="en-IN" sz="1800"/>
                        <m:t>2</m:t>
                      </m:r>
                      <m:r>
                        <a:rPr lang="en-IN" sz="1800"/>
                        <m:t> ×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sz="1800" i="1"/>
                            <m:t>𝑃𝑒𝑟𝑐𝑖𝑠𝑖𝑜𝑛</m:t>
                          </m:r>
                          <m:r>
                            <a:rPr lang="en-IN" sz="1800" i="1"/>
                            <m:t> ×</m:t>
                          </m:r>
                          <m:r>
                            <a:rPr lang="en-IN" sz="1800" i="1"/>
                            <m:t>𝑅𝑒𝑐𝑎𝑙𝑙</m:t>
                          </m:r>
                        </m:num>
                        <m:den>
                          <m:r>
                            <a:rPr lang="en-IN" sz="1800" i="1"/>
                            <m:t>𝑃𝑒𝑟𝑐𝑖𝑠𝑖𝑜𝑛</m:t>
                          </m:r>
                          <m:r>
                            <a:rPr lang="en-IN" sz="1800" i="1"/>
                            <m:t>+</m:t>
                          </m:r>
                          <m:r>
                            <a:rPr lang="en-IN" sz="1800" i="1"/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IN" sz="1800" dirty="0"/>
              </a:p>
              <a:p>
                <a:endParaRPr lang="en-IN" sz="1800" dirty="0"/>
              </a:p>
            </p:txBody>
          </p:sp>
        </mc:Choice>
        <mc:Fallback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72201799-0FDD-8C44-69E8-EA7F94AB5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944" y="1835487"/>
                <a:ext cx="4016901" cy="31870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9E3739-33DC-D06F-8AAE-2EB71BA2B153}"/>
              </a:ext>
            </a:extLst>
          </p:cNvPr>
          <p:cNvCxnSpPr/>
          <p:nvPr/>
        </p:nvCxnSpPr>
        <p:spPr>
          <a:xfrm>
            <a:off x="6781800" y="1263596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003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32C8D-936F-EE73-124C-AE399F0C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C62A33-0131-3A93-988D-A2B890A2F1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1311" y="318576"/>
            <a:ext cx="8991600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500" dirty="0"/>
              <a:t>BASELINE MODELS FOR COMPARISON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A1EABD4-3B40-C91A-13FC-C4C50D9D3E5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9266C56-941A-0CD2-008F-33388AD59BB3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1708D99-B18D-7D85-A514-0B6957873C0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617CF79-B4D9-8B59-C00C-673E26AC129C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EE2579B-4FF9-4F4A-6A7E-80FD0F2D39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689C210-6470-9151-854E-07BAD26EC53B}"/>
              </a:ext>
            </a:extLst>
          </p:cNvPr>
          <p:cNvSpPr txBox="1"/>
          <p:nvPr/>
        </p:nvSpPr>
        <p:spPr>
          <a:xfrm>
            <a:off x="762000" y="1549268"/>
            <a:ext cx="5402956" cy="35052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LBP-Similarity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handcrafted visual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sentiment-aware multimodal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parallel text and image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Inter-Modal Attention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improvement over prior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effectiveness of proposed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generalization on MMHS150K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A13189-319E-87F2-2A6D-60989BB03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95996"/>
            <a:ext cx="53149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44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D92E-26E5-7628-C353-43513574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345D3AB-CA4E-59BA-67B3-903497F0F9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944" y="406951"/>
            <a:ext cx="8382000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MODEL PERFORMANCE SUMMARY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C01E213-F373-8925-C551-448BA5BEBA0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7A8BE65-054B-14A9-0214-E9EF5AB5162E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E9B46EA-DB9E-97B5-4172-13FD6C854E5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56CDA1E-8D23-696B-34DE-F7BBD39423A7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733F383-ADD6-C566-0745-675AA610F9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46A77CFA-96EB-ADFF-6F4B-B2B2E1795390}"/>
              </a:ext>
            </a:extLst>
          </p:cNvPr>
          <p:cNvSpPr txBox="1"/>
          <p:nvPr/>
        </p:nvSpPr>
        <p:spPr>
          <a:xfrm>
            <a:off x="1124245" y="1524000"/>
            <a:ext cx="5705038" cy="416267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87.2%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85.6%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84.9%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85.2%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0.912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performance across all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 shows low false alarms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recall indicates effective bullying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confirms good class separability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FD994B1E-8928-4333-C831-D47903D5537E}"/>
              </a:ext>
            </a:extLst>
          </p:cNvPr>
          <p:cNvSpPr txBox="1"/>
          <p:nvPr/>
        </p:nvSpPr>
        <p:spPr>
          <a:xfrm>
            <a:off x="6753004" y="2178657"/>
            <a:ext cx="4327041" cy="250068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outperforms existing baselines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social media moderation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reliable multimodal understanding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C01305-9042-6D43-411D-D06AA593776A}"/>
              </a:ext>
            </a:extLst>
          </p:cNvPr>
          <p:cNvCxnSpPr/>
          <p:nvPr/>
        </p:nvCxnSpPr>
        <p:spPr>
          <a:xfrm>
            <a:off x="6400800" y="1319981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489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45BDF-F79A-C9FB-12AA-BF73A45E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C2784F-8165-2798-1627-28BFC8F01D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7372" y="88341"/>
            <a:ext cx="3286856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LIMITATIONS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FD1A434-7A85-5C6C-0824-1DD5636F81D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6986E3A-C0CA-04A0-A1CC-D39F6BFF6CDC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702FFCC-A8B9-4F28-DF90-C766E8CF4F6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A6413D0-3B9D-0BDC-71B9-C7A521F02849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BD5CA2D-F2C1-479D-21D3-EBA97FD2826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FA00581-D053-882D-A236-0C80CC217D97}"/>
              </a:ext>
            </a:extLst>
          </p:cNvPr>
          <p:cNvSpPr txBox="1"/>
          <p:nvPr/>
        </p:nvSpPr>
        <p:spPr>
          <a:xfrm>
            <a:off x="917576" y="1319981"/>
            <a:ext cx="5178424" cy="422423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Constraint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trained mainly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datasets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performance on multilingual or code-mixed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adaptation for regional languages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Modality Restriction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supports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and images only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process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or audio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bullying cues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context from reels or live streams is not considered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64167EDF-4ABF-C2BB-D339-FC7366558B45}"/>
              </a:ext>
            </a:extLst>
          </p:cNvPr>
          <p:cNvSpPr txBox="1"/>
          <p:nvPr/>
        </p:nvSpPr>
        <p:spPr>
          <a:xfrm>
            <a:off x="6753004" y="2178656"/>
            <a:ext cx="4448395" cy="21621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Requirement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requires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high-end GPU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memory needed for BERT and BLIP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low-power devices is challenging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E525FA-113A-95F4-3C5F-5F184B303BAE}"/>
              </a:ext>
            </a:extLst>
          </p:cNvPr>
          <p:cNvCxnSpPr/>
          <p:nvPr/>
        </p:nvCxnSpPr>
        <p:spPr>
          <a:xfrm>
            <a:off x="6400800" y="1319981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74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1700" y="394768"/>
            <a:ext cx="8153400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sz="3500" dirty="0"/>
              <a:t>CONCLUSION</a:t>
            </a:r>
            <a:r>
              <a:rPr sz="3500" spc="-140" dirty="0"/>
              <a:t> </a:t>
            </a:r>
            <a:r>
              <a:rPr sz="3500" dirty="0"/>
              <a:t>and</a:t>
            </a:r>
            <a:r>
              <a:rPr sz="3500" spc="-85" dirty="0"/>
              <a:t> </a:t>
            </a:r>
            <a:r>
              <a:rPr sz="3500" dirty="0"/>
              <a:t>FUTURE</a:t>
            </a:r>
            <a:r>
              <a:rPr sz="3500" spc="-120" dirty="0"/>
              <a:t> </a:t>
            </a:r>
            <a:r>
              <a:rPr sz="3500"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221413"/>
            <a:ext cx="11125200" cy="483978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/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Achieved </a:t>
            </a:r>
            <a:r>
              <a:rPr lang="en-US" sz="2200" b="1" dirty="0"/>
              <a:t>87.2% accuracy</a:t>
            </a:r>
            <a:r>
              <a:rPr lang="en-US" sz="2200" dirty="0"/>
              <a:t> and </a:t>
            </a:r>
            <a:r>
              <a:rPr lang="en-US" sz="2200" b="1" dirty="0"/>
              <a:t>F1-score of 0.852</a:t>
            </a:r>
            <a:r>
              <a:rPr lang="en-US" sz="2200" dirty="0"/>
              <a:t> on MMHS150K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BERT + BLIP + inter-modal attention</a:t>
            </a:r>
            <a:r>
              <a:rPr lang="en-US" sz="2200" dirty="0"/>
              <a:t> model outperformed single-branch models (text-only).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model learned </a:t>
            </a:r>
            <a:r>
              <a:rPr lang="en-US" sz="2200" b="1" dirty="0"/>
              <a:t>semantic meaning from BERT text embeddings</a:t>
            </a:r>
            <a:r>
              <a:rPr lang="en-US" sz="2200" dirty="0"/>
              <a:t>, </a:t>
            </a:r>
            <a:r>
              <a:rPr lang="en-US" sz="2200" b="1" dirty="0"/>
              <a:t>visual context from BLIP image encoder</a:t>
            </a:r>
            <a:r>
              <a:rPr lang="en-US" sz="2200" dirty="0"/>
              <a:t>, and used </a:t>
            </a:r>
            <a:r>
              <a:rPr lang="en-US" sz="2200" b="1" dirty="0"/>
              <a:t>inter-modal attention</a:t>
            </a:r>
            <a:r>
              <a:rPr lang="en-US" sz="2200" dirty="0"/>
              <a:t> to align and fuse these features—capturing relationships between words and visuals for accurate cyberbullying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Demonstrated strong generalization with </a:t>
            </a:r>
            <a:r>
              <a:rPr lang="en-US" sz="2200" b="1" dirty="0"/>
              <a:t>AUC &gt; 0.912</a:t>
            </a:r>
            <a:r>
              <a:rPr lang="en-US" sz="2200" dirty="0"/>
              <a:t> and </a:t>
            </a:r>
            <a:r>
              <a:rPr lang="en-US" sz="2200" b="1" dirty="0"/>
              <a:t>low false detection rate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b="1" dirty="0"/>
              <a:t>Significance of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These results highlight the model’s suitability for real-world social media moderation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It enhances </a:t>
            </a:r>
            <a:r>
              <a:rPr lang="en-US" sz="2200" b="1" dirty="0"/>
              <a:t>context understanding</a:t>
            </a:r>
            <a:r>
              <a:rPr lang="en-US" sz="2200" dirty="0"/>
              <a:t>, improves </a:t>
            </a:r>
            <a:r>
              <a:rPr lang="en-US" sz="2200" b="1" dirty="0"/>
              <a:t>classification performance</a:t>
            </a:r>
            <a:r>
              <a:rPr lang="en-US" sz="2200" dirty="0"/>
              <a:t>, and provides a foundation for developing </a:t>
            </a:r>
            <a:r>
              <a:rPr lang="en-US" sz="2200" b="1" dirty="0"/>
              <a:t>real-time,  and explainable</a:t>
            </a:r>
            <a:r>
              <a:rPr lang="en-US" sz="2200" dirty="0"/>
              <a:t> online safety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proposed framework is highly adaptable, allowing integration with various </a:t>
            </a:r>
            <a:r>
              <a:rPr lang="en-US" sz="2200" b="1" dirty="0"/>
              <a:t>social media platforms</a:t>
            </a:r>
            <a:r>
              <a:rPr lang="en-US" sz="2200" dirty="0"/>
              <a:t> and making it suitable for diverse online environments.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E958-1FB5-C67D-3A0D-71F5AB0A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D1E68D-3320-3727-3535-F47D882BA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3064" y="453923"/>
            <a:ext cx="8183372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lang="en-IN" sz="3500" dirty="0"/>
              <a:t>CONCLUSION</a:t>
            </a:r>
            <a:r>
              <a:rPr lang="en-IN" sz="3500" spc="-140" dirty="0"/>
              <a:t> </a:t>
            </a:r>
            <a:r>
              <a:rPr lang="en-IN" sz="3500" dirty="0"/>
              <a:t>and</a:t>
            </a:r>
            <a:r>
              <a:rPr lang="en-IN" sz="3500" spc="-85" dirty="0"/>
              <a:t> </a:t>
            </a:r>
            <a:r>
              <a:rPr lang="en-IN" sz="3500" dirty="0"/>
              <a:t>FUTURE</a:t>
            </a:r>
            <a:r>
              <a:rPr lang="en-IN" sz="3500" spc="-120" dirty="0"/>
              <a:t> </a:t>
            </a:r>
            <a:r>
              <a:rPr lang="en-IN" sz="3500" spc="-10" dirty="0"/>
              <a:t>SCOPE</a:t>
            </a:r>
            <a:endParaRPr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38BAA7-54FE-0D23-750B-04BDE2B9B6A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C969EE-18B4-FDFB-77B1-86537DC11181}"/>
              </a:ext>
            </a:extLst>
          </p:cNvPr>
          <p:cNvSpPr txBox="1"/>
          <p:nvPr/>
        </p:nvSpPr>
        <p:spPr>
          <a:xfrm>
            <a:off x="4332406" y="6465822"/>
            <a:ext cx="1676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1D9124-5557-814F-9781-2B3B4B620D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251870-D769-0DC1-BD51-2D54309E3CB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EF62112-9259-EB53-EC00-592C712216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7DEA59-4D87-62DD-A416-6314800CA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3400" y="1483468"/>
            <a:ext cx="11442700" cy="451662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/>
              <a:t>Future Developments</a:t>
            </a:r>
          </a:p>
          <a:p>
            <a:r>
              <a:rPr lang="en-US" sz="2200" dirty="0"/>
              <a:t>Several directions can further enhance the model’s effectiveness: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Multilingual Handling: Adoption of models such as XLM-</a:t>
            </a:r>
            <a:r>
              <a:rPr lang="en-US" sz="2200" dirty="0" err="1"/>
              <a:t>RoBERTa</a:t>
            </a:r>
            <a:r>
              <a:rPr lang="en-US" sz="2200" dirty="0"/>
              <a:t> for improved support of code-mixed and regional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Deployment Optimization: Application of pruning or quantization for faster inference in real-time moderation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Robustness: Enhancement of resistance to adversarial inputs such as obfuscated text or modified images.</a:t>
            </a:r>
          </a:p>
          <a:p>
            <a:endParaRPr lang="en-US" sz="2200" dirty="0"/>
          </a:p>
          <a:p>
            <a:r>
              <a:rPr lang="en-US" sz="2300" b="1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Currently trained on English data, limiting performance on multilingual or code-mixed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framework currently processes only text and images, excluding videos or audio cues that may indicate bullying behavior.</a:t>
            </a:r>
          </a:p>
        </p:txBody>
      </p:sp>
    </p:spTree>
    <p:extLst>
      <p:ext uri="{BB962C8B-B14F-4D97-AF65-F5344CB8AC3E}">
        <p14:creationId xmlns:p14="http://schemas.microsoft.com/office/powerpoint/2010/main" val="66675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AEAD-791A-238A-9C43-BF2360DB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EECDBE-FD93-9995-A1A3-666A166EB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2032" y="180686"/>
            <a:ext cx="4081823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CONTRIBUTIONS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0F0CD6-3295-5FFC-8C14-9AC8AC69B55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569D506-9585-D1CB-EEA9-09540B67F3AA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0D7FB5D-EDCA-4B1A-CD4D-A8E8A2A1E80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3616292-0E94-5F71-5BAA-8AEFDE9E1FF6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4A8ACC1-E64D-D106-EDC2-CB7F3110F2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D043D21F-879C-CB51-302E-B45D4BE53ED1}"/>
              </a:ext>
            </a:extLst>
          </p:cNvPr>
          <p:cNvSpPr txBox="1"/>
          <p:nvPr/>
        </p:nvSpPr>
        <p:spPr>
          <a:xfrm>
            <a:off x="912659" y="1253757"/>
            <a:ext cx="5178424" cy="483978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Fusion Mechanism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inter-modal attention for aligning text and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combination of BERT and BLIP representations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contextual understanding over traditional methods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Output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level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metadata for moderation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category-wise identification of bullying types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F6811D73-0660-3CE2-0CE4-C4E0C578C61E}"/>
              </a:ext>
            </a:extLst>
          </p:cNvPr>
          <p:cNvSpPr txBox="1"/>
          <p:nvPr/>
        </p:nvSpPr>
        <p:spPr>
          <a:xfrm>
            <a:off x="6753004" y="2178656"/>
            <a:ext cx="4448395" cy="246990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designed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deployable API service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social media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integrable with existing moderation platforms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96383D-4546-F2A9-34F6-CF52BAA6DDB9}"/>
              </a:ext>
            </a:extLst>
          </p:cNvPr>
          <p:cNvCxnSpPr/>
          <p:nvPr/>
        </p:nvCxnSpPr>
        <p:spPr>
          <a:xfrm>
            <a:off x="6400800" y="1319981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800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2609-C399-8FCE-8EDA-09FFFEAE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C30640-BF54-68E5-5C7E-EBAFAD68AD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2032" y="180686"/>
            <a:ext cx="4337168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OUTPUT SCREENS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3D13A0A-237C-C600-78AA-E0D531E8AC0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7ECF2E-21EF-B1FF-B16D-5EE4284570DE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6D4CE80-F540-FCB9-63F4-704E69C12D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A0D53D0-EE1A-C47E-97D1-351AD7CE01FC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668CA42-13F3-A22E-A22E-CF299A09498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E06F82-4118-7D26-0B20-1961943A5A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43" y="1544242"/>
            <a:ext cx="5957557" cy="36967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F16DA3-3E15-A806-E6C6-70EE451A02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545257"/>
            <a:ext cx="4876800" cy="37674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5889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37837-DFF5-9C0F-AFEF-EC37FBF6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9D569D-9775-D9B0-C27C-E058BAE8E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2032" y="180686"/>
            <a:ext cx="4337168" cy="85664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IN" sz="3600" dirty="0"/>
              <a:t>OUTPUT SCREENS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93276D-31EC-4116-B964-071A9522812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13E9DD6-6E0B-A06A-BF71-545B9834E3DC}"/>
              </a:ext>
            </a:extLst>
          </p:cNvPr>
          <p:cNvSpPr txBox="1"/>
          <p:nvPr/>
        </p:nvSpPr>
        <p:spPr>
          <a:xfrm>
            <a:off x="4429378" y="6451048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5408DD-24FC-FCD3-0959-3FC9E8CC9EC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7BD2C0D-61DB-9E82-186A-2AB17F05818E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C9F1460-1072-79AB-48F5-843C975B175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72DED7-C6E0-2759-D93D-028249BEEA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93" y="1366111"/>
            <a:ext cx="5525868" cy="40368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5EC1E9-A20F-9F0F-2E0E-49DF113C8D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890" y="1346446"/>
            <a:ext cx="5984200" cy="40368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9566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2408" y="222285"/>
            <a:ext cx="10101072" cy="757899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z="3200"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FFB41-DB31-108C-69EA-EB9CCFA5F0DD}"/>
              </a:ext>
            </a:extLst>
          </p:cNvPr>
          <p:cNvSpPr txBox="1"/>
          <p:nvPr/>
        </p:nvSpPr>
        <p:spPr>
          <a:xfrm>
            <a:off x="425116" y="948690"/>
            <a:ext cx="113858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UNICEF (2019):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that over one-third of young people across 30 countries experience online bullying, emphasizing the global scale of the issue.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Gillespie (2018):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how content moderation shapes online discourse, revealing the complex role of platforms in managing harmful content.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Meta Platforms Inc. (2023):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Outlined Meta’s policies and community standards for moderating online abuse and enforcing safe digital spaces.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Joachims (1998):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Support Vector Machines for text categorization, forming a foundational approach for modern text-based classification.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Shaik Rafi et al. (2025):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sarcasm detection system across headlines and text, contributing to better sentiment and intent understanding.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Devlin et al. (2019):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BERT, a bidirectional transformer model that revolutionized contextual text representation for NLP tasks.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Ayetiran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Ozgobek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an inter-modal attention framework integrating text and image modalities for multimodal content analysis.</a:t>
            </a:r>
          </a:p>
        </p:txBody>
      </p:sp>
    </p:spTree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1ED2-8F25-27C6-D814-7A6F6A8D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BB00C-B5AB-D5C0-DCC6-68AD5DC88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0264" y="262021"/>
            <a:ext cx="10101072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z="3500"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C214DEF-7FD1-C6BD-C435-30BF8D30BB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61F1AEE-F664-B072-E951-51A2908831C3}"/>
              </a:ext>
            </a:extLst>
          </p:cNvPr>
          <p:cNvSpPr txBox="1"/>
          <p:nvPr/>
        </p:nvSpPr>
        <p:spPr>
          <a:xfrm>
            <a:off x="4114800" y="6451049"/>
            <a:ext cx="1143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412E0AE-1582-3D46-293D-611085247B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A9630B-33F0-329B-CC46-3D442CAFA269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623AB79-95A9-1F68-CD8C-90C88A58553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7F171-EAEE-35C2-C15B-DACF600292CF}"/>
              </a:ext>
            </a:extLst>
          </p:cNvPr>
          <p:cNvSpPr txBox="1"/>
          <p:nvPr/>
        </p:nvSpPr>
        <p:spPr>
          <a:xfrm>
            <a:off x="421105" y="1066086"/>
            <a:ext cx="11734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Reddy et al. (2025):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CNN-based deep learning for automated traffic sign recognition, demonstrating efficient visual feature extraction.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Al-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Khasawneh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multimodal approach for detecting cyberbullying using combined textual and visual cues from social networks.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Al-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Hashedi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Maheshwari (2023):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emotion-based cyberbullying detection model leveraging affective features from textual content.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Ravuri Daniel (2023):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ensemble learning with optimization algorithms to improve cyberbullying detection accuracy on social media.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Razi &amp; Ejaz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multilingual cyberbullying detection system handling Urdu, Roman Urdu, and English social media posts.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Jamjoom &amp; Majeed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to improve transformer-based cyberbullying detection performance.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Daraghmi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Basulaiman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CNN-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-GRU hybrid model for effective Arabic cyberbullying detection from text data</a:t>
            </a:r>
            <a:r>
              <a:rPr lang="en-IN" dirty="0"/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Naqvi &amp; Atif (2024):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detecting cyberbullying and profiling abusers in Roman Urdu social media interactions.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292037"/>
      </p:ext>
    </p:extLst>
  </p:cSld>
  <p:clrMapOvr>
    <a:masterClrMapping/>
  </p:clrMapOvr>
  <p:transition spd="slow">
    <p:comb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3456-1747-81D7-050D-0C994CF4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DA1C94-CFC1-916E-2C6B-2AE25087B5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0264" y="262021"/>
            <a:ext cx="10101072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lang="en-IN" sz="3500" spc="-10" dirty="0"/>
              <a:t>REFERENCES</a:t>
            </a:r>
            <a:endParaRPr sz="35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4B4B4B-736E-2B94-B260-05F0EC2890C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_</a:t>
            </a:r>
            <a:endParaRPr lang="en-US" dirty="0">
              <a:effectLst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70AAD58-4C4E-75E1-1759-A46D0F88D5C6}"/>
              </a:ext>
            </a:extLst>
          </p:cNvPr>
          <p:cNvSpPr txBox="1"/>
          <p:nvPr/>
        </p:nvSpPr>
        <p:spPr>
          <a:xfrm>
            <a:off x="4114800" y="6451049"/>
            <a:ext cx="1143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E229B38-5AFC-541B-42A4-62F9689007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5BAFB19-03E2-6C01-1314-7E624DB8D680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1348FEB-B40D-FEE9-0927-2F9F7C706E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C4F22-9888-2D8B-962E-86C84F49467C}"/>
              </a:ext>
            </a:extLst>
          </p:cNvPr>
          <p:cNvSpPr txBox="1"/>
          <p:nvPr/>
        </p:nvSpPr>
        <p:spPr>
          <a:xfrm>
            <a:off x="421105" y="1066086"/>
            <a:ext cx="11734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Ibrahim &amp; Ben Ali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neural network-based hate speech detection framework incorporating uncertainty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robustness.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Gomez et al. (2020):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benchmark dataset and baseline models for multimodal hate speech detection combining text and images.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Alfurayj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Shah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chained deep learning model capturing bystander dynamics for fine-grained cyberbullying detection.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Moturi et al.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CNNs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gammatonegram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for detecting abnormalities in PCG signals, showcasing signal analysis via deep learning.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Venkatareddy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deep learning-based innovations in communication and computing technologies for modern applications.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Greeshma et al. (2022):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Discussed deep learning advances in network systems, offering insights into neural model integration across domains.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Jagannadham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(2021):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IoT and cloud-driven architectures, focusing on scalable, intelligent computing solutions.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Ayetiran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Ozgobek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inter-modal attention-based deep learning framework using unified modality for multimodal cyberbullying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477581"/>
      </p:ext>
    </p:extLst>
  </p:cSld>
  <p:clrMapOvr>
    <a:masterClrMapping/>
  </p:clrMapOvr>
  <p:transition spd="slow">
    <p:comb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0" y="304800"/>
            <a:ext cx="8327137" cy="8040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z="3500"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DB7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483468"/>
            <a:ext cx="11274425" cy="450123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sincerely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the Co-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ordintor’s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faculty, and audience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giving us the opportunity to present our project —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3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MULTIMODAL CYBERBULLYING DETECTION USING</a:t>
            </a:r>
          </a:p>
          <a:p>
            <a:r>
              <a:rPr lang="en-US" sz="23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  INTER-MODAL-ATTENTION-BASED DEEP LEARNING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attention, feedback, and questions are truly appreciated.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further discussions or collaboration inquiries, feel free to contact us:</a:t>
            </a: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Tatapudi Rajesh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rajeshtatapudi1819@gmail.com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Mothe Suneetha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msuneetha973@gmail.com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Panchumarthi Lakshmi Gopinath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gsgopinath3@gmail.com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Chilaka Santhosh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chilakasanthosh11@gmail.com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4572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6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_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838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dirty="0" err="1">
                <a:solidFill>
                  <a:srgbClr val="888888"/>
                </a:solidFill>
                <a:latin typeface="Times New Roman"/>
                <a:cs typeface="Times New Roman"/>
              </a:rPr>
              <a:t>Final_PPT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No.DB7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512425" cy="241732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 From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DB7</a:t>
            </a:r>
          </a:p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appreciate your attention and interest.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we’d like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floor for questions and discussions.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 free to ask about the model, dataset, or future work!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1754</TotalTime>
  <Words>5505</Words>
  <Application>Microsoft Office PowerPoint</Application>
  <PresentationFormat>Widescreen</PresentationFormat>
  <Paragraphs>799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 Math</vt:lpstr>
      <vt:lpstr>Times New Roman</vt:lpstr>
      <vt:lpstr>Wingdings</vt:lpstr>
      <vt:lpstr>Office Theme</vt:lpstr>
      <vt:lpstr>Department of Computer Science and Engineering MULTIMODAL CYBERBULLYING DETECTION USING INTER-MODAL-ATTENTION-BASED DEEP LEARNING</vt:lpstr>
      <vt:lpstr>OUTLINE</vt:lpstr>
      <vt:lpstr>ABSTRACT</vt:lpstr>
      <vt:lpstr>INTRODUCTION</vt:lpstr>
      <vt:lpstr>NEED FOR MULTIMODAL APPROACH</vt:lpstr>
      <vt:lpstr>EXISTING SOLUTIONS</vt:lpstr>
      <vt:lpstr>PROPOSED IDEA</vt:lpstr>
      <vt:lpstr>LITERATURE SURVEY</vt:lpstr>
      <vt:lpstr>LITERATURE SURVEY</vt:lpstr>
      <vt:lpstr>RESEARCH GAPS</vt:lpstr>
      <vt:lpstr>PROBLEM STATEMENT</vt:lpstr>
      <vt:lpstr>OBJECTIVES</vt:lpstr>
      <vt:lpstr>DATASET OVERVIEW (MMHS150K)</vt:lpstr>
      <vt:lpstr>PREPROCESSING: TEXT</vt:lpstr>
      <vt:lpstr>PREPROCESSING: IMAGE</vt:lpstr>
      <vt:lpstr>ARCHITECTURE</vt:lpstr>
      <vt:lpstr>METHODOLOGY</vt:lpstr>
      <vt:lpstr>METHODOLOGY</vt:lpstr>
      <vt:lpstr>FUSION &amp; CLASSIFICATION</vt:lpstr>
      <vt:lpstr>STRUCTURED OUTPUT</vt:lpstr>
      <vt:lpstr>INPUT ROUTING STRATEGY</vt:lpstr>
      <vt:lpstr>IMPLEMENTATION</vt:lpstr>
      <vt:lpstr>RESULTS &amp; ANALYSIS</vt:lpstr>
      <vt:lpstr>RESULTS &amp; ANALYSIS</vt:lpstr>
      <vt:lpstr>CONFUSION MATRIX</vt:lpstr>
      <vt:lpstr>STRENGHTS &amp; CHALLENGES</vt:lpstr>
      <vt:lpstr>APPLICATIONS</vt:lpstr>
      <vt:lpstr>RESULTS &amp; ANALYSIS</vt:lpstr>
      <vt:lpstr>EVALUATION METRICS</vt:lpstr>
      <vt:lpstr>BASELINE MODELS FOR COMPARISON</vt:lpstr>
      <vt:lpstr>MODEL PERFORMANCE SUMMARY</vt:lpstr>
      <vt:lpstr>LIMITATIONS</vt:lpstr>
      <vt:lpstr>CONCLUSION and FUTURE SCOPE</vt:lpstr>
      <vt:lpstr>CONCLUSION and FUTURE SCOPE</vt:lpstr>
      <vt:lpstr>CONTRIBUTIONS</vt:lpstr>
      <vt:lpstr>OUTPUT SCREENS</vt:lpstr>
      <vt:lpstr>OUTPUT SCREENS</vt:lpstr>
      <vt:lpstr>REFERENCES</vt:lpstr>
      <vt:lpstr>REFERENCES</vt:lpstr>
      <vt:lpstr>REFERENCES</vt:lpstr>
      <vt:lpstr>ACKNOWLEGEMENTS</vt:lpstr>
      <vt:lpstr>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gopinath panchumarthi</dc:creator>
  <cp:lastModifiedBy>gopinath panchumarthi</cp:lastModifiedBy>
  <cp:revision>25</cp:revision>
  <dcterms:created xsi:type="dcterms:W3CDTF">2025-11-01T04:34:19Z</dcterms:created>
  <dcterms:modified xsi:type="dcterms:W3CDTF">2026-02-05T15:50:19Z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2025-11-01T00:00:00Z</vt:filetime>
  </property>
</Properties>
</file>