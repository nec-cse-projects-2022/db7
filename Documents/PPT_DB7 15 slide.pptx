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79" r:id="rId12"/>
    <p:sldId id="268" r:id="rId13"/>
    <p:sldId id="269" r:id="rId14"/>
    <p:sldId id="274" r:id="rId15"/>
    <p:sldId id="275" r:id="rId16"/>
    <p:sldId id="270" r:id="rId17"/>
    <p:sldId id="276" r:id="rId18"/>
    <p:sldId id="271" r:id="rId19"/>
    <p:sldId id="277" r:id="rId20"/>
    <p:sldId id="278" r:id="rId21"/>
    <p:sldId id="273" r:id="rId22"/>
    <p:sldId id="272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F412B-6FA9-4B3A-A61B-0552AC73DE3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C2694-AF22-425F-B4CB-353623C47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3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92654" TargetMode="External"/><Relationship Id="rId2" Type="http://schemas.openxmlformats.org/officeDocument/2006/relationships/hyperlink" Target="https://ieeexplore.ieee.org/document/1013818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608139" TargetMode="External"/><Relationship Id="rId4" Type="http://schemas.openxmlformats.org/officeDocument/2006/relationships/hyperlink" Target="https://ieeexplore.ieee.org/document/1057482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msuneetha973@gmail.com" TargetMode="External"/><Relationship Id="rId2" Type="http://schemas.openxmlformats.org/officeDocument/2006/relationships/hyperlink" Target="mailto:rajeshtatapudi1819@gmail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hilakasanthosh11@gmail.com" TargetMode="External"/><Relationship Id="rId4" Type="http://schemas.openxmlformats.org/officeDocument/2006/relationships/hyperlink" Target="mailto:gsgopinath3@gmail.com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4" y="397307"/>
            <a:ext cx="10101072" cy="1562461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0" tIns="478010" rIns="0" bIns="0" rtlCol="0" anchor="ctr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lang="en-US" sz="1800" spc="-10" dirty="0"/>
          </a:p>
          <a:p>
            <a:pPr marL="248285"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>
                <a:solidFill>
                  <a:srgbClr val="FF0000"/>
                </a:solidFill>
              </a:rPr>
              <a:t>MULTIMODAL CYBERBULLYING DETECTION USING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INTER-MODAL-ATTENTION-BASED DEEP LEARNING</a:t>
            </a: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591809" y="2253578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1000" y="2519643"/>
            <a:ext cx="4304665" cy="13226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Tatapudi Rajesh		 (22471A05O5)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Panchumarthi Lakshmi Gopinath	 (22471A05N7)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Chilaka Santhosh		 (23475A0511)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000" y="3677054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US" sz="1550" b="1" dirty="0">
                <a:latin typeface="Times New Roman"/>
                <a:cs typeface="Times New Roman"/>
              </a:rPr>
              <a:t>Mothe Suneetha </a:t>
            </a:r>
            <a:r>
              <a:rPr lang="en-US" sz="1200" b="1" dirty="0">
                <a:latin typeface="Times New Roman"/>
                <a:cs typeface="Times New Roman"/>
              </a:rPr>
              <a:t>M. 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US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Assistant 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4553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0" dirty="0"/>
              <a:t>_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DB7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0" dirty="0"/>
              <a:t>_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040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17903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spcBef>
                <a:spcPts val="315"/>
              </a:spcBef>
              <a:buFontTx/>
              <a:buAutoNum type="arabicPeriod"/>
              <a:tabLst>
                <a:tab pos="52705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n-US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</a:t>
            </a:r>
            <a:r>
              <a:rPr lang="en-US"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DB7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76299" y="1371600"/>
            <a:ext cx="10439400" cy="40793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social media continues to affect users emotionally and socially, creating an urgent need for automated detection systems that can interpret both language and visuals.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this, designed a multimodal framework that learns from text and image data using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inter-modal attention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mechanism. The text is represented through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embeddings, while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generate image captions and visual context. These representations are then fused and processed through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to recognize bullying cues. Along with classification, the system performs input validation,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NSFW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screening, and assigns severity and category levels to each post. Experiments conducted on the MMHS150K dataset show an accuracy of 87.2\%, precision of 85.6\%, recall of 84.9\%, and an F1-score of 85.2\%, surpassing prior methods such as SAFE, MCNN, and LBP-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sim.The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is lightweight, interpretable, and adaptable for real-time content moderation across social media platforms.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212641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142654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3273" y="1143000"/>
            <a:ext cx="10972800" cy="483978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of the Project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detecting cyberbullying in social media posts using a multimodal deep learning framework that integrates both text and image features</a:t>
            </a:r>
            <a:r>
              <a:rPr lang="en-US" sz="2200" dirty="0">
                <a:latin typeface="The Serif Hand Black" panose="020F0502020204030204" pitchFamily="66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leverages inter-modal attention mechanisms to enhance understanding of harmful content and improve classification accuracy.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Project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social media, online harassment has become a serious concern affecting users’ mental health and online safety.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an intelligent system that can automatically identify and prevent cyberbullying before it escalates.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Relevance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detection is crucial for maintaining a safer digital environment.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visual and textual cues, this system offers a more accurate and context-aware solution, aiding platforms and policymakers in promoting responsible online behavior.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356509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77000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79587"/>
              </p:ext>
            </p:extLst>
          </p:nvPr>
        </p:nvGraphicFramePr>
        <p:xfrm>
          <a:off x="381000" y="1052194"/>
          <a:ext cx="11429999" cy="527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3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9337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sz="1550" b="1" spc="1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sz="1550" b="1" spc="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  <a:r>
                        <a:rPr sz="155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Adapted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sz="1550" b="1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62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 inter-modal attention-based deep learning framework using unified modality for multimodal fake news, hate speech, and offensive language detection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Ayetiran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&amp;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Ozgobek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2024, Elsevier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sng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https://www.sciencedirect.com/science/article/pii/S0306437924000378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BiLSTM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-CNN + Inter-modal Attention (model architecture/components)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They achieved state-of-the-art results by combining image and text, creating a truly unified representation.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There is no much explainability, only a "yes/no" answer for classification, and it demands a lot of computing power.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59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Cyberbullying Detection Based on Emotion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Al-Hashedi et al., 2023,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https://ieeexplore.ieee.org/document/10138186</a:t>
                      </a:r>
                      <a:endParaRPr lang="en-IN" sz="10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BERT, XLNet (as core models) + emotion classifier (specific model/component)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got 97% F1 score for emotions, 92% for bullying texts.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only works for one language, and getting humans to label all that data is super expensive.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94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 With Tournament Selected Glowworm Swarm Optimization Algorithm for Cyberbullying Detection on Social Media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Ravuri Daniel et al., 2023,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https://ieeexplore.ieee.org/document/10292654</a:t>
                      </a:r>
                      <a:endParaRPr lang="en-IN" sz="10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GloVe (as an embedding technique/feature representation) + ELSTM-AB (model)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got 96.4% accuracy and making predictions in just 0.32 seconds.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Can't handle pictures or videos and hasn't been tested in real-time situations yet.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3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 Multi-Modal Approach for Identification and Detection of Cyberbullying in Social Networks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Al-Khasawneh et al., 2024,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 dirty="0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https://ieeexplore.ieee.org/document/10574823</a:t>
                      </a:r>
                      <a:endParaRPr lang="en-IN" sz="1000" u="sng" dirty="0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 + Hierarchical Attention, MLP for fusion (all are model components/architectures)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92.1% accuracy for Twitter and 86.4% F1 for Instagram.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tests on image or video content. Plus, you'll need a powerful GPU.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7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Detection of Cyberbullying in Mixed Urdu, Roman Urdu, and English Social Media Conversations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Razi &amp; Ejaz, 2024,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 dirty="0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https://ieeexplore.ieee.org/document/10608139</a:t>
                      </a:r>
                      <a:endParaRPr lang="en-IN" sz="1000" u="sng" dirty="0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mBERT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/MuRIL (as core models) + weighted harm scoring (specific logic/algorithm)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got 92% F1-score and, big news, created the first cyberbullying dataset that works in three languages.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images or videos, and it only tells you "yes" or "no" for bullying (binary classification).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1FF14-77B6-4437-2943-B8E1C027E2DD}"/>
              </a:ext>
            </a:extLst>
          </p:cNvPr>
          <p:cNvSpPr txBox="1"/>
          <p:nvPr/>
        </p:nvSpPr>
        <p:spPr>
          <a:xfrm>
            <a:off x="687386" y="1483468"/>
            <a:ext cx="1089501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Limited Explainability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much explainability, only a "yes/no" answer for classification, and it demands a lot of computing power.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Demand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only works for one language, and getting humans to label all that data is super expensive.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Restriction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Can't handle pictures or videos and hasn't been tested in real-time situations yet.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Multimodal Support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tests on image or video content. Plus, you'll need a powerful GPU.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Evaluation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images or videos, and it only tells you "yes" or "no" for bullying (binary classification).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23899" y="1347661"/>
            <a:ext cx="10744200" cy="416267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Issue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on social media platforms has become a growing threat, negatively impacting users’ mental health and online safety.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Limitations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detection systems mainly rely on textual data, lack explainability, and fail to process multimodal content like images.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Problem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and efficient framework that can accurately detect, explainability and interpret cyberbullying from both text and visual data in real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multimodal deep learning model that integrates text and image features using inter-modal attention, enabling accurate, explainable, and real-time cyberbullying detection.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2271" y="1371600"/>
            <a:ext cx="10887456" cy="450123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Inter-modal-attention-based Deep Learning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accurate and efficient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multimodal deep learning framework that effectively combines textual and visual features for cyberbullying detection.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inter-modal attention mechanism that enhances the interaction between text and image modalities for better contextual understanding.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accuracy and robustness of detection compared to existing single-modality or traditional models.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scalability and efficiency by optimizing the model for real-time prediction on social media data.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interpretable outputs that help moderators understand why a post is flagged as cyberbullying.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51A8EC3F-DACC-79F5-25F1-148D5A704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295400"/>
            <a:ext cx="4114800" cy="4800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67260A-A2B3-1D9F-D7A8-6F238AF1F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270" y="1278194"/>
            <a:ext cx="3820795" cy="4800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4405" y="1312856"/>
            <a:ext cx="5349187" cy="1538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60960" rIns="0" bIns="0" rtlCol="0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Approaches (BERT + BLIP)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emojis, URLs, hashtags, mentions, and punctuation. Convert all text to lowercase.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using the BERT tokenizer and truncate to 128 tokens.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every images to 224 * 224 pixels.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3F00D-AAA0-57F3-BA12-2785A73740FF}"/>
                  </a:ext>
                </a:extLst>
              </p:cNvPr>
              <p:cNvSpPr txBox="1"/>
              <p:nvPr/>
            </p:nvSpPr>
            <p:spPr>
              <a:xfrm>
                <a:off x="174288" y="3236858"/>
                <a:ext cx="5324224" cy="26185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Model Components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BERT Encoder: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 input is encoded to a 768-dimensional feature vector: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400">
                              <a:solidFill>
                                <a:schemeClr val="dk1"/>
                              </a:solidFill>
                            </a:rPr>
                            <m:t>text</m:t>
                          </m:r>
                        </m:sub>
                      </m:sSub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BERT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CLS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]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input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text</m:t>
                              </m:r>
                            </m:sub>
                          </m:sSub>
                        </m:e>
                      </m:d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𝟟𝟞𝟠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b="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BLIP Encoder: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are processed with BLIP to produce contextual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ptions embedding projected into the text feature space: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40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</m:sub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𝑖𝑚𝑔</m:t>
                          </m:r>
                        </m:sub>
                      </m:sSub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BLIP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input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img</m:t>
                              </m:r>
                            </m:sub>
                          </m:sSub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𝑖𝑚𝑔</m:t>
                          </m:r>
                        </m:sub>
                      </m:sSub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𝟟𝟞𝟠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3F00D-AAA0-57F3-BA12-2785A7374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88" y="3236858"/>
                <a:ext cx="5324224" cy="2618537"/>
              </a:xfrm>
              <a:prstGeom prst="rect">
                <a:avLst/>
              </a:prstGeom>
              <a:blipFill>
                <a:blip r:embed="rId2"/>
                <a:stretch>
                  <a:fillRect l="-1031" t="-698" r="-9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01180A-D05D-39E1-D4D1-69596B4D267D}"/>
                  </a:ext>
                </a:extLst>
              </p:cNvPr>
              <p:cNvSpPr txBox="1"/>
              <p:nvPr/>
            </p:nvSpPr>
            <p:spPr>
              <a:xfrm>
                <a:off x="5772386" y="1307425"/>
                <a:ext cx="6096000" cy="17702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b="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Inter-Modal Attention: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Aligns two modules using scaled dot-product attention: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Attention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softmax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N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IN" sz="1400" dirty="0">
                  <a:cs typeface="+mj-cs"/>
                </a:endParaRPr>
              </a:p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Fusion: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attended features are concatenated: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400">
                              <a:solidFill>
                                <a:schemeClr val="dk1"/>
                              </a:solidFill>
                            </a:rPr>
                            <m:t>fused</m:t>
                          </m:r>
                        </m:sub>
                      </m:sSub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Att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text</m:t>
                              </m:r>
                            </m:sub>
                          </m:s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Att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img</m:t>
                              </m:r>
                            </m:sub>
                          </m:sSub>
                        </m:e>
                      </m:d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𝟙𝟝𝟛𝟞</m:t>
                          </m:r>
                        </m:sup>
                      </m:sSup>
                    </m:oMath>
                  </m:oMathPara>
                </a14:m>
                <a:endParaRPr lang="ar-AE" sz="1400" dirty="0">
                  <a:cs typeface="+mj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01180A-D05D-39E1-D4D1-69596B4D2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386" y="1307425"/>
                <a:ext cx="6096000" cy="1770228"/>
              </a:xfrm>
              <a:prstGeom prst="rect">
                <a:avLst/>
              </a:prstGeom>
              <a:blipFill>
                <a:blip r:embed="rId3"/>
                <a:stretch>
                  <a:fillRect l="-900" t="-17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36067A-211A-11AF-64EA-3BFD09D615C6}"/>
                  </a:ext>
                </a:extLst>
              </p:cNvPr>
              <p:cNvSpPr txBox="1"/>
              <p:nvPr/>
            </p:nvSpPr>
            <p:spPr>
              <a:xfrm>
                <a:off x="5810216" y="3165877"/>
                <a:ext cx="6096000" cy="2587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 and Output: The final layer produces binary classification along with structured metadata: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𝑓𝑐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𝑓𝑐</m:t>
                              </m:r>
                            </m:sub>
                          </m:sSub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structure: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is bullying (Boolean)”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confidence (float)”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severity (string)”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categories (array)”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image description (BLIP-generated)”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36067A-211A-11AF-64EA-3BFD09D61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16" y="3165877"/>
                <a:ext cx="6096000" cy="2587183"/>
              </a:xfrm>
              <a:prstGeom prst="rect">
                <a:avLst/>
              </a:prstGeom>
              <a:blipFill>
                <a:blip r:embed="rId4"/>
                <a:stretch>
                  <a:fillRect l="-800" t="-1176" b="-1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45F21B-2D69-9375-E98D-04CAC3284604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019613-1AF1-C736-4D1A-CE05B2C4A661}"/>
              </a:ext>
            </a:extLst>
          </p:cNvPr>
          <p:cNvCxnSpPr>
            <a:cxnSpLocks/>
          </p:cNvCxnSpPr>
          <p:nvPr/>
        </p:nvCxnSpPr>
        <p:spPr>
          <a:xfrm>
            <a:off x="0" y="5791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7F38E0-C5B2-80FC-E13A-ACDD458F03DB}"/>
              </a:ext>
            </a:extLst>
          </p:cNvPr>
          <p:cNvCxnSpPr/>
          <p:nvPr/>
        </p:nvCxnSpPr>
        <p:spPr>
          <a:xfrm>
            <a:off x="0" y="312420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F96337-EEAB-1FC2-91CF-8BB223A15321}"/>
              </a:ext>
            </a:extLst>
          </p:cNvPr>
          <p:cNvCxnSpPr>
            <a:cxnSpLocks/>
          </p:cNvCxnSpPr>
          <p:nvPr/>
        </p:nvCxnSpPr>
        <p:spPr>
          <a:xfrm>
            <a:off x="5672799" y="1219200"/>
            <a:ext cx="0" cy="457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D63E810F-A732-BE04-924D-51495F746EB7}"/>
              </a:ext>
            </a:extLst>
          </p:cNvPr>
          <p:cNvSpPr txBox="1">
            <a:spLocks/>
          </p:cNvSpPr>
          <p:nvPr/>
        </p:nvSpPr>
        <p:spPr>
          <a:xfrm>
            <a:off x="1273902" y="5907000"/>
            <a:ext cx="947029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‘R’ just means the vector is made up of normal real numbers, representing the numeric features used by the model.</a:t>
            </a:r>
            <a:endParaRPr lang="en-IN" sz="1600" dirty="0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6392D-5BF5-3FCE-0A5E-D54F3776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10 Types of Cyberbullying - Blog">
            <a:extLst>
              <a:ext uri="{FF2B5EF4-FFF2-40B4-BE49-F238E27FC236}">
                <a16:creationId xmlns:a16="http://schemas.microsoft.com/office/drawing/2014/main" id="{DC79D00C-7EBF-B04A-BD54-26A409516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389" y="1612112"/>
            <a:ext cx="2529611" cy="169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6CA8241-4588-B70B-6812-CA1A7EEAD2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DF4F69C-22E8-BB6C-4E23-E97057B1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71800" y="1182289"/>
            <a:ext cx="6731791" cy="503059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IN" sz="2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Inter-Modal Attention Fusion Mechanism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A2A34F4B-48BC-631F-1DC9-33F1FAB54ACE}"/>
                  </a:ext>
                </a:extLst>
              </p:cNvPr>
              <p:cNvSpPr>
                <a:spLocks noGrp="1"/>
              </p:cNvSpPr>
              <p:nvPr>
                <p:ph sz="half" idx="3"/>
              </p:nvPr>
            </p:nvSpPr>
            <p:spPr>
              <a:xfrm>
                <a:off x="154033" y="1646104"/>
                <a:ext cx="5756697" cy="4506811"/>
              </a:xfrm>
            </p:spPr>
            <p:txBody>
              <a:bodyPr/>
              <a:lstStyle/>
              <a:p>
                <a:r>
                  <a:rPr lang="en-IN" sz="1600" dirty="0"/>
                  <a:t>This is the standard </a:t>
                </a:r>
                <a:r>
                  <a:rPr lang="en-IN" sz="1600" b="1" dirty="0"/>
                  <a:t>Scaled Dot-Product Attention</a:t>
                </a:r>
                <a:r>
                  <a:rPr lang="en-IN" sz="1600" dirty="0"/>
                  <a:t> that aligns two modalities.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b="1" dirty="0"/>
                  <a:t>Queries (Q)</a:t>
                </a:r>
                <a:r>
                  <a:rPr lang="en-IN" sz="1600" dirty="0"/>
                  <a:t> come from one modality (e.g., text)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b="1" dirty="0"/>
                  <a:t>Keys (K)</a:t>
                </a:r>
                <a:r>
                  <a:rPr lang="en-IN" sz="1600" dirty="0"/>
                  <a:t> and </a:t>
                </a:r>
                <a:r>
                  <a:rPr lang="en-IN" sz="1600" b="1" dirty="0"/>
                  <a:t>Values (V)</a:t>
                </a:r>
                <a:r>
                  <a:rPr lang="en-IN" sz="1600" dirty="0"/>
                  <a:t> come from the other (e.g., image)</a:t>
                </a:r>
              </a:p>
              <a:p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ar-AE" sz="1600" dirty="0"/>
                  <a:t>→ </a:t>
                </a:r>
                <a:r>
                  <a:rPr lang="en-IN" sz="1600" dirty="0"/>
                  <a:t>Measures </a:t>
                </a:r>
                <a:r>
                  <a:rPr lang="en-IN" sz="1600" b="1" dirty="0"/>
                  <a:t>how relevant each image feature is to the text (or vice versa)</a:t>
                </a:r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 err="1"/>
                  <a:t>Softmax</a:t>
                </a:r>
                <a:r>
                  <a:rPr lang="en-IN" sz="1600" dirty="0"/>
                  <a:t> turns these into </a:t>
                </a:r>
                <a:r>
                  <a:rPr lang="en-IN" sz="1600" b="1" dirty="0"/>
                  <a:t>attention weights</a:t>
                </a:r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Multiplying by </a:t>
                </a:r>
                <a:r>
                  <a:rPr lang="en-IN" sz="1600" b="1" dirty="0"/>
                  <a:t>V</a:t>
                </a:r>
                <a:r>
                  <a:rPr lang="en-IN" sz="1600" dirty="0"/>
                  <a:t> creates a </a:t>
                </a:r>
                <a:r>
                  <a:rPr lang="en-IN" sz="1600" b="1" dirty="0"/>
                  <a:t>focused, weighted representation</a:t>
                </a:r>
                <a:endParaRPr lang="en-IN" sz="2000" b="1" dirty="0"/>
              </a:p>
              <a:p>
                <a:r>
                  <a:rPr lang="en-IN" sz="2000" b="1" dirty="0"/>
                  <a:t>Fusion:</a:t>
                </a:r>
              </a:p>
              <a:p>
                <a:r>
                  <a:rPr lang="en-US" sz="1600" dirty="0"/>
                  <a:t>After inter-modal attention, we get: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Text-aware image features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Image-aware text features</a:t>
                </a:r>
              </a:p>
              <a:p>
                <a:r>
                  <a:rPr lang="en-US" sz="1600" dirty="0"/>
                  <a:t>These are </a:t>
                </a:r>
                <a:r>
                  <a:rPr lang="en-US" sz="1600" b="1" dirty="0"/>
                  <a:t>concatenated</a:t>
                </a:r>
                <a:r>
                  <a:rPr lang="en-US" sz="1600" dirty="0"/>
                  <a:t> (joined together)</a:t>
                </a:r>
              </a:p>
              <a:p>
                <a:r>
                  <a:rPr lang="en-US" sz="1600" dirty="0"/>
                  <a:t>If each feature is </a:t>
                </a:r>
                <a:r>
                  <a:rPr lang="en-US" sz="1600" b="1" dirty="0"/>
                  <a:t>768-D</a:t>
                </a:r>
                <a:r>
                  <a:rPr lang="en-US" sz="1600" dirty="0"/>
                  <a:t>, concatenation gives </a:t>
                </a:r>
                <a:r>
                  <a:rPr lang="en-US" sz="1600" b="1" dirty="0"/>
                  <a:t>1536-D</a:t>
                </a:r>
                <a:r>
                  <a:rPr lang="en-US" sz="1600" dirty="0"/>
                  <a:t> final fused vector.</a:t>
                </a:r>
              </a:p>
              <a:p>
                <a:endParaRPr lang="en-IN" sz="2000" b="1" dirty="0"/>
              </a:p>
            </p:txBody>
          </p:sp>
        </mc:Choice>
        <mc:Fallback xmlns="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A2A34F4B-48BC-631F-1DC9-33F1FAB54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3"/>
              </p:nvPr>
            </p:nvSpPr>
            <p:spPr>
              <a:xfrm>
                <a:off x="154033" y="1646104"/>
                <a:ext cx="5756697" cy="4506811"/>
              </a:xfrm>
              <a:blipFill>
                <a:blip r:embed="rId3"/>
                <a:stretch>
                  <a:fillRect l="-2646" t="-1353" r="-3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>
            <a:extLst>
              <a:ext uri="{FF2B5EF4-FFF2-40B4-BE49-F238E27FC236}">
                <a16:creationId xmlns:a16="http://schemas.microsoft.com/office/drawing/2014/main" id="{1D93B1CB-6037-5765-7FD0-7C9EDB00BA3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A38F2D0-B9BC-545F-D70A-A9ED62CEF03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C3E4A72-85C5-084C-BA1A-77C053A1C11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24CE645-54FA-74FF-A2B9-21E12031204B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64877BF-3C64-D05A-8E90-86CB67E0A28D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FE6880-33C1-91DF-962C-3EC069D7CBF8}"/>
              </a:ext>
            </a:extLst>
          </p:cNvPr>
          <p:cNvCxnSpPr/>
          <p:nvPr/>
        </p:nvCxnSpPr>
        <p:spPr>
          <a:xfrm>
            <a:off x="0" y="1600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DD45D7-141C-2264-A78B-4DF8F1CFC3F2}"/>
              </a:ext>
            </a:extLst>
          </p:cNvPr>
          <p:cNvCxnSpPr>
            <a:cxnSpLocks/>
          </p:cNvCxnSpPr>
          <p:nvPr/>
        </p:nvCxnSpPr>
        <p:spPr>
          <a:xfrm>
            <a:off x="0" y="6172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7019D2-7886-E3C0-A747-2ADD4FAC8031}"/>
              </a:ext>
            </a:extLst>
          </p:cNvPr>
          <p:cNvCxnSpPr>
            <a:cxnSpLocks/>
          </p:cNvCxnSpPr>
          <p:nvPr/>
        </p:nvCxnSpPr>
        <p:spPr>
          <a:xfrm>
            <a:off x="6096000" y="1600200"/>
            <a:ext cx="0" cy="457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3CFD5CA3-2CB3-AE76-305C-3175CEB80E12}"/>
              </a:ext>
            </a:extLst>
          </p:cNvPr>
          <p:cNvSpPr txBox="1">
            <a:spLocks/>
          </p:cNvSpPr>
          <p:nvPr/>
        </p:nvSpPr>
        <p:spPr>
          <a:xfrm>
            <a:off x="6203437" y="1685348"/>
            <a:ext cx="5834530" cy="44319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Text Provided by User</a:t>
            </a:r>
          </a:p>
          <a:p>
            <a:r>
              <a:rPr lang="en-US" sz="1600" dirty="0"/>
              <a:t>“This loser should stop posting selfies. </a:t>
            </a:r>
          </a:p>
          <a:p>
            <a:r>
              <a:rPr lang="en-US" sz="1600" dirty="0"/>
              <a:t>Nobody wants to see your stupid face.”</a:t>
            </a:r>
          </a:p>
          <a:p>
            <a:r>
              <a:rPr lang="en-US" sz="1600" b="1" dirty="0"/>
              <a:t>Image Provided by User</a:t>
            </a:r>
          </a:p>
          <a:p>
            <a:r>
              <a:rPr lang="en-US" sz="1600" dirty="0"/>
              <a:t>(Example shown above — assume it is </a:t>
            </a:r>
          </a:p>
          <a:p>
            <a:r>
              <a:rPr lang="en-US" sz="1600" dirty="0"/>
              <a:t>a picture of a person posting a selfie.)</a:t>
            </a:r>
          </a:p>
          <a:p>
            <a:endParaRPr lang="en-IN" sz="1600" dirty="0"/>
          </a:p>
          <a:p>
            <a:r>
              <a:rPr lang="en-US" sz="1600" dirty="0"/>
              <a:t>Now the model </a:t>
            </a:r>
            <a:r>
              <a:rPr lang="en-US" sz="1600" b="1" dirty="0"/>
              <a:t>(Inter-Modal Attention) </a:t>
            </a:r>
            <a:r>
              <a:rPr lang="en-US" sz="1600" dirty="0"/>
              <a:t>tries to understand: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“How does the text relate to the image?”</a:t>
            </a:r>
          </a:p>
          <a:p>
            <a:r>
              <a:rPr lang="en-US" sz="1600" b="1" dirty="0"/>
              <a:t>Example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text insults someone taking a selfie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Image shows a person taking a selfie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alignment → HIGH bullying probability</a:t>
            </a:r>
          </a:p>
          <a:p>
            <a:r>
              <a:rPr lang="en-US" sz="1600" dirty="0"/>
              <a:t>Attention checks: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Does the word </a:t>
            </a:r>
            <a:r>
              <a:rPr lang="en-US" sz="1600" b="1" dirty="0"/>
              <a:t>“loser”</a:t>
            </a:r>
            <a:r>
              <a:rPr lang="en-US" sz="1600" dirty="0"/>
              <a:t> relate to the person in image? → 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Does “stupid face” refer to the face in the photo? → Yes</a:t>
            </a:r>
          </a:p>
          <a:p>
            <a:r>
              <a:rPr lang="en-US" sz="1600" dirty="0"/>
              <a:t>The model strengthens this relationship using attention weights.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1642053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178313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914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US" spc="-25" dirty="0"/>
              <a:t>.DB7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2924" y="1235720"/>
            <a:ext cx="4965272" cy="4462760"/>
          </a:xfrm>
          <a:prstGeom prst="rect">
            <a:avLst/>
          </a:prstGeom>
        </p:spPr>
        <p:txBody>
          <a:bodyPr vert="horz" wrap="square" lIns="0" tIns="60960" rIns="0" bIns="0" numCol="1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(Python, PyTorch)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MMHS150K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+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 encoding.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trained, validated, and saved as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cyberbullying_model.pth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(Windows)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PyTorch,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Pandas, NumPy, Matplotlib,…..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3CE67-B665-C062-4108-58FF9275814B}"/>
              </a:ext>
            </a:extLst>
          </p:cNvPr>
          <p:cNvSpPr txBox="1"/>
          <p:nvPr/>
        </p:nvSpPr>
        <p:spPr>
          <a:xfrm>
            <a:off x="5980256" y="1295400"/>
            <a:ext cx="609447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NVIDIA Tesla T4 (16 GB VRAM)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13 GB | Storage: 100 GB (Google Drive)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loss &amp; sampler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text and images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cleaning &amp; image resizing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stopping &amp; dropout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training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 acceleration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038B5A-5EF9-1470-B1C3-680D747D6E52}"/>
              </a:ext>
            </a:extLst>
          </p:cNvPr>
          <p:cNvCxnSpPr/>
          <p:nvPr/>
        </p:nvCxnSpPr>
        <p:spPr>
          <a:xfrm>
            <a:off x="0" y="11430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6B5718-9887-84B1-60CE-7AD5B01F496B}"/>
              </a:ext>
            </a:extLst>
          </p:cNvPr>
          <p:cNvCxnSpPr>
            <a:cxnSpLocks/>
          </p:cNvCxnSpPr>
          <p:nvPr/>
        </p:nvCxnSpPr>
        <p:spPr>
          <a:xfrm>
            <a:off x="0" y="59436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F58CE4-789D-8F50-73CD-947377767912}"/>
              </a:ext>
            </a:extLst>
          </p:cNvPr>
          <p:cNvCxnSpPr/>
          <p:nvPr/>
        </p:nvCxnSpPr>
        <p:spPr>
          <a:xfrm>
            <a:off x="5827410" y="1143000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DAA480-7055-E5E5-75C2-3E8BE7186C81}"/>
              </a:ext>
            </a:extLst>
          </p:cNvPr>
          <p:cNvCxnSpPr/>
          <p:nvPr/>
        </p:nvCxnSpPr>
        <p:spPr>
          <a:xfrm>
            <a:off x="0" y="3733800"/>
            <a:ext cx="58274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E98E52-C0AD-C58F-444B-E1A39495856C}"/>
              </a:ext>
            </a:extLst>
          </p:cNvPr>
          <p:cNvCxnSpPr/>
          <p:nvPr/>
        </p:nvCxnSpPr>
        <p:spPr>
          <a:xfrm>
            <a:off x="5827410" y="2743200"/>
            <a:ext cx="63645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curve&#10;&#10;AI-generated content may be incorrect.">
            <a:extLst>
              <a:ext uri="{FF2B5EF4-FFF2-40B4-BE49-F238E27FC236}">
                <a16:creationId xmlns:a16="http://schemas.microsoft.com/office/drawing/2014/main" id="{8F8D1310-A50A-C964-4131-8E326B3ED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5" y="1066800"/>
            <a:ext cx="3627120" cy="2590800"/>
          </a:xfrm>
          <a:prstGeom prst="rect">
            <a:avLst/>
          </a:prstGeom>
        </p:spPr>
      </p:pic>
      <p:pic>
        <p:nvPicPr>
          <p:cNvPr id="13" name="Picture 12" descr="A graph of loss and validation&#10;&#10;AI-generated content may be incorrect.">
            <a:extLst>
              <a:ext uri="{FF2B5EF4-FFF2-40B4-BE49-F238E27FC236}">
                <a16:creationId xmlns:a16="http://schemas.microsoft.com/office/drawing/2014/main" id="{D1C16A44-0344-8D58-4919-781086221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5" y="3657600"/>
            <a:ext cx="3627120" cy="25908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E972B-9256-6CEA-9C4A-DDE8FBBC0DBD}"/>
              </a:ext>
            </a:extLst>
          </p:cNvPr>
          <p:cNvSpPr txBox="1"/>
          <p:nvPr/>
        </p:nvSpPr>
        <p:spPr>
          <a:xfrm>
            <a:off x="4495533" y="1307574"/>
            <a:ext cx="665100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Progress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 Accuracy and Loss curves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how model performance improved over epochs.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Gradual decrease → effective learning.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Curve: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steadily → balanced accuracy.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applied to prevent overfitting once validation loss is stabilized.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F1 score achieved around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0.852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both precision and recall stability.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Insight: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convergence of loss curve shows good generalization.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rise in validation metrics indicates consistent learning.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518A-6977-167A-8D98-00A49CC0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EE7055-B76C-EE6F-08CC-92E7EE730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4C7190-8F23-7E3D-3258-59ECE8BB40B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8EE467A-0007-6248-D5FC-035475F9AB5C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C5C05E2-116E-9B2A-A763-5B1B6F1C498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EB3C56-44F1-46F5-D60B-34645CDE98C2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4811474-3062-D6CB-ED56-6304320ACB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DC2D69-3A12-B1E9-E45E-0B5E45AA2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1483468"/>
            <a:ext cx="3940013" cy="39400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7EAB21-4A9D-B3CA-C9C2-D3395F590F56}"/>
              </a:ext>
            </a:extLst>
          </p:cNvPr>
          <p:cNvSpPr txBox="1"/>
          <p:nvPr/>
        </p:nvSpPr>
        <p:spPr>
          <a:xfrm>
            <a:off x="5132618" y="1720840"/>
            <a:ext cx="67545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how well the model distinguishes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Non-Bullying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Positive Rate (FPR)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True Positive Rate (TPR)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(Area Under Curve)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close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strong model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achieved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AUC (&gt;0.912)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excellent separation capability between classes.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 near the top-left corner → better detection.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positives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true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bots.</a:t>
            </a:r>
          </a:p>
        </p:txBody>
      </p:sp>
    </p:spTree>
    <p:extLst>
      <p:ext uri="{BB962C8B-B14F-4D97-AF65-F5344CB8AC3E}">
        <p14:creationId xmlns:p14="http://schemas.microsoft.com/office/powerpoint/2010/main" val="353440883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A8B5-5708-1908-3D8E-F0505A4F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9B3052-3D80-7680-A3F0-89406A186B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91" y="3581400"/>
            <a:ext cx="4247809" cy="266700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624A6AC-6C10-48CC-2A58-802B36751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4" y="222285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683954A-E5F9-8B9A-8F2D-500C6138B6A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8A26F6-EF40-9F15-7D60-F895C2F4E399}"/>
              </a:ext>
            </a:extLst>
          </p:cNvPr>
          <p:cNvSpPr txBox="1"/>
          <p:nvPr/>
        </p:nvSpPr>
        <p:spPr>
          <a:xfrm>
            <a:off x="4429378" y="6451049"/>
            <a:ext cx="93362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EEB42D2-F56D-A85B-E99C-92ABC0D1460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FFF3092-4AEB-E9C7-FCDD-C16BD67788D8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C9F7399-A653-4273-405B-70F10B58C4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3E7C0-3DC0-FDBE-E73B-151A342D6005}"/>
              </a:ext>
            </a:extLst>
          </p:cNvPr>
          <p:cNvSpPr txBox="1"/>
          <p:nvPr/>
        </p:nvSpPr>
        <p:spPr>
          <a:xfrm>
            <a:off x="4724400" y="1136778"/>
            <a:ext cx="6781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Bullying: YES/NO Classification Results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visualization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highlights the model’s predictions: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Orange/Red: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Bullying detected.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Bullying detected.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to detect bullying by analyzing abusive or hateful language in text and harmful or offensive cues in images through inter-modal attention.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Posts containing abusive language, hate speech, threats, or offensive images indicating harm or harassment.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Bullying: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Posts with neutral, friendly, or informative text and non-offensive images showing no intent to harm.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87.2%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Bullying or Not detection.</a:t>
            </a:r>
          </a:p>
        </p:txBody>
      </p:sp>
      <p:pic>
        <p:nvPicPr>
          <p:cNvPr id="15" name="Picture 14" descr="A screenshot of a website&#10;&#10;AI-generated content may be incorrect.">
            <a:extLst>
              <a:ext uri="{FF2B5EF4-FFF2-40B4-BE49-F238E27FC236}">
                <a16:creationId xmlns:a16="http://schemas.microsoft.com/office/drawing/2014/main" id="{2016A3F1-8F8B-AC60-2773-EACAE54D76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91" y="1136778"/>
            <a:ext cx="4247809" cy="27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9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3810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221413"/>
            <a:ext cx="11125200" cy="483978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/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Achieved </a:t>
            </a:r>
            <a:r>
              <a:rPr lang="en-US" sz="2200" b="1" dirty="0"/>
              <a:t>87.2% accuracy</a:t>
            </a:r>
            <a:r>
              <a:rPr lang="en-US" sz="2200" dirty="0"/>
              <a:t> and </a:t>
            </a:r>
            <a:r>
              <a:rPr lang="en-US" sz="2200" b="1" dirty="0"/>
              <a:t>F1-score of 0.852</a:t>
            </a:r>
            <a:r>
              <a:rPr lang="en-US" sz="2200" dirty="0"/>
              <a:t> on MMHS150K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BERT + BLIP + inter-modal attention</a:t>
            </a:r>
            <a:r>
              <a:rPr lang="en-US" sz="2200" dirty="0"/>
              <a:t> model outperformed single-branch models (text-only).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model learned </a:t>
            </a:r>
            <a:r>
              <a:rPr lang="en-US" sz="2200" b="1" dirty="0"/>
              <a:t>semantic meaning from BERT text embeddings</a:t>
            </a:r>
            <a:r>
              <a:rPr lang="en-US" sz="2200" dirty="0"/>
              <a:t>, </a:t>
            </a:r>
            <a:r>
              <a:rPr lang="en-US" sz="2200" b="1" dirty="0"/>
              <a:t>visual context from BLIP image encoder</a:t>
            </a:r>
            <a:r>
              <a:rPr lang="en-US" sz="2200" dirty="0"/>
              <a:t>, and used </a:t>
            </a:r>
            <a:r>
              <a:rPr lang="en-US" sz="2200" b="1" dirty="0"/>
              <a:t>inter-modal attention</a:t>
            </a:r>
            <a:r>
              <a:rPr lang="en-US" sz="2200" dirty="0"/>
              <a:t> to align and fuse these features—capturing relationships between words and visuals for accurate cyberbullying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Demonstrated strong generalization with </a:t>
            </a:r>
            <a:r>
              <a:rPr lang="en-US" sz="2200" b="1" dirty="0"/>
              <a:t>AUC &gt; 0.912</a:t>
            </a:r>
            <a:r>
              <a:rPr lang="en-US" sz="2200" dirty="0"/>
              <a:t> and </a:t>
            </a:r>
            <a:r>
              <a:rPr lang="en-US" sz="2200" b="1" dirty="0"/>
              <a:t>low false detection rate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b="1" dirty="0"/>
              <a:t>Significance of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These results highlight the model’s suitability for real-world social media moderation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It enhances </a:t>
            </a:r>
            <a:r>
              <a:rPr lang="en-US" sz="2200" b="1" dirty="0"/>
              <a:t>context understanding</a:t>
            </a:r>
            <a:r>
              <a:rPr lang="en-US" sz="2200" dirty="0"/>
              <a:t>, improves </a:t>
            </a:r>
            <a:r>
              <a:rPr lang="en-US" sz="2200" b="1" dirty="0"/>
              <a:t>classification performance</a:t>
            </a:r>
            <a:r>
              <a:rPr lang="en-US" sz="2200" dirty="0"/>
              <a:t>, and provides a foundation for developing </a:t>
            </a:r>
            <a:r>
              <a:rPr lang="en-US" sz="2200" b="1" dirty="0"/>
              <a:t>real-time,  and explainable</a:t>
            </a:r>
            <a:r>
              <a:rPr lang="en-US" sz="2200" dirty="0"/>
              <a:t> online safety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proposed framework is highly adaptable, allowing integration with various </a:t>
            </a:r>
            <a:r>
              <a:rPr lang="en-US" sz="2200" b="1" dirty="0"/>
              <a:t>social media platforms</a:t>
            </a:r>
            <a:r>
              <a:rPr lang="en-US" sz="2200" dirty="0"/>
              <a:t> and making it suitable for diverse online environments.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E958-1FB5-C67D-3A0D-71F5AB0A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D1E68D-3320-3727-3535-F47D882BA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38BAA7-54FE-0D23-750B-04BDE2B9B6A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C969EE-18B4-FDFB-77B1-86537DC11181}"/>
              </a:ext>
            </a:extLst>
          </p:cNvPr>
          <p:cNvSpPr txBox="1"/>
          <p:nvPr/>
        </p:nvSpPr>
        <p:spPr>
          <a:xfrm>
            <a:off x="4332406" y="6465822"/>
            <a:ext cx="1676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B1D9124-5557-814F-9781-2B3B4B620D9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251870-D769-0DC1-BD51-2D54309E3CB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EF62112-9259-EB53-EC00-592C712216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B7DEA59-4D87-62DD-A416-6314800CA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3400" y="1483468"/>
            <a:ext cx="11442700" cy="451662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/>
              <a:t>Future Developments</a:t>
            </a:r>
          </a:p>
          <a:p>
            <a:r>
              <a:rPr lang="en-US" sz="2200" dirty="0"/>
              <a:t>Several directions can further enhance the model’s effectiveness: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Multilingual Handling: Adoption of models such as XLM-</a:t>
            </a:r>
            <a:r>
              <a:rPr lang="en-US" sz="2200" dirty="0" err="1"/>
              <a:t>RoBERTa</a:t>
            </a:r>
            <a:r>
              <a:rPr lang="en-US" sz="2200" dirty="0"/>
              <a:t> for improved support of code-mixed and regional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Deployment Optimization: Application of pruning or quantization for faster inference in real-time moderation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Robustness: Enhancement of resistance to adversarial inputs such as obfuscated text or modified images.</a:t>
            </a:r>
          </a:p>
          <a:p>
            <a:endParaRPr lang="en-US" sz="2200" dirty="0"/>
          </a:p>
          <a:p>
            <a:r>
              <a:rPr lang="en-US" sz="2300" b="1" dirty="0"/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Currently trained on English data, limiting performance on multilingual or code-mixed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framework currently processes only text and images, excluding videos or audio cues that may indicate bullying behavior.</a:t>
            </a:r>
          </a:p>
        </p:txBody>
      </p:sp>
    </p:spTree>
    <p:extLst>
      <p:ext uri="{BB962C8B-B14F-4D97-AF65-F5344CB8AC3E}">
        <p14:creationId xmlns:p14="http://schemas.microsoft.com/office/powerpoint/2010/main" val="66675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FFB41-DB31-108C-69EA-EB9CCFA5F0DD}"/>
              </a:ext>
            </a:extLst>
          </p:cNvPr>
          <p:cNvSpPr txBox="1"/>
          <p:nvPr/>
        </p:nvSpPr>
        <p:spPr>
          <a:xfrm>
            <a:off x="425116" y="948690"/>
            <a:ext cx="113858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UNICEF (2019):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that over one-third of young people across 30 countries experience online bullying, emphasizing the global scale of the issue.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Gillespie (2018):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Discussed how content moderation shapes online discourse, revealing the complex role of platforms in managing harmful content.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Meta Platforms Inc. (2023):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Outlined Meta’s policies and community standards for moderating online abuse and enforcing safe digital spaces.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Joachims (1998):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Support Vector Machines for text categorization, forming a foundational approach for modern text-based classification.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Shaik Rafi et al. (2025):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sarcasm detection system across headlines and text, contributing to better sentiment and intent understanding.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Devlin et al. (2019):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BERT, a bidirectional transformer model that revolutionized contextual text representation for NLP tasks.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Ayetiran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Ozgobek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an inter-modal attention framework integrating text and image modalities for multimodal content analysis.</a:t>
            </a:r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1ED2-8F25-27C6-D814-7A6F6A8D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2BB00C-B5AB-D5C0-DCC6-68AD5DC88F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4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C214DEF-7FD1-C6BD-C435-30BF8D30BB1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61F1AEE-F664-B072-E951-51A2908831C3}"/>
              </a:ext>
            </a:extLst>
          </p:cNvPr>
          <p:cNvSpPr txBox="1"/>
          <p:nvPr/>
        </p:nvSpPr>
        <p:spPr>
          <a:xfrm>
            <a:off x="4114800" y="6451049"/>
            <a:ext cx="1143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412E0AE-1582-3D46-293D-611085247B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5A9630B-33F0-329B-CC46-3D442CAFA269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623AB79-95A9-1F68-CD8C-90C88A58553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7F171-EAEE-35C2-C15B-DACF600292CF}"/>
              </a:ext>
            </a:extLst>
          </p:cNvPr>
          <p:cNvSpPr txBox="1"/>
          <p:nvPr/>
        </p:nvSpPr>
        <p:spPr>
          <a:xfrm>
            <a:off x="421105" y="1066086"/>
            <a:ext cx="11734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Reddy et al. (2025):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CNN-based deep learning for automated traffic sign recognition, demonstrating efficient visual feature extraction.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Al-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Khasawneh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multimodal approach for detecting cyberbullying using combined textual and visual cues from social networks.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Al-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Hashedi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Maheshwari (2023):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emotion-based cyberbullying detection model leveraging affective features from textual content.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Ravuri Daniel (2023):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ensemble learning with optimization algorithms to improve cyberbullying detection accuracy on social media.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Razi &amp; Ejaz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multilingual cyberbullying detection system handling Urdu, Roman Urdu, and English social media posts.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Jamjoom &amp; Majeed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to improve transformer-based cyberbullying detection performance.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Daraghmi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Basulaiman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CNN-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-GRU hybrid model for effective Arabic cyberbullying detection from text data</a:t>
            </a:r>
            <a:r>
              <a:rPr lang="en-IN" dirty="0"/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Naqvi &amp; Atif (2024):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detecting cyberbullying and profiling abusers in Roman Urdu social media interactions.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292037"/>
      </p:ext>
    </p:extLst>
  </p:cSld>
  <p:clrMapOvr>
    <a:masterClrMapping/>
  </p:clrMapOvr>
  <p:transition spd="slow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3456-1747-81D7-050D-0C994CF4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DA1C94-CFC1-916E-2C6B-2AE25087B5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4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4B4B4B-736E-2B94-B260-05F0EC2890C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70AAD58-4C4E-75E1-1759-A46D0F88D5C6}"/>
              </a:ext>
            </a:extLst>
          </p:cNvPr>
          <p:cNvSpPr txBox="1"/>
          <p:nvPr/>
        </p:nvSpPr>
        <p:spPr>
          <a:xfrm>
            <a:off x="4114800" y="6451049"/>
            <a:ext cx="1143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E229B38-5AFC-541B-42A4-62F9689007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5BAFB19-03E2-6C01-1314-7E624DB8D680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1348FEB-B40D-FEE9-0927-2F9F7C706E4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C4F22-9888-2D8B-962E-86C84F49467C}"/>
              </a:ext>
            </a:extLst>
          </p:cNvPr>
          <p:cNvSpPr txBox="1"/>
          <p:nvPr/>
        </p:nvSpPr>
        <p:spPr>
          <a:xfrm>
            <a:off x="421105" y="1066086"/>
            <a:ext cx="11734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Ibrahim &amp; Ben Ali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 neural network-based hate speech detection framework incorporating uncertainty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robustness.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Gomez et al. (2020):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benchmark dataset and baseline models for multimodal hate speech detection combining text and images.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Alfurayj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Shah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chained deep learning model capturing bystander dynamics for fine-grained cyberbullying detection.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Moturi et al.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CNNs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gammatonegram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for detecting abnormalities in PCG signals, showcasing signal analysis via deep learning.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Venkatareddy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deep learning-based innovations in communication and computing technologies for modern applications.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Greeshma et al. (2022):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Discussed deep learning advances in network systems, offering insights into neural model integration across domains.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Jagannadham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(2021):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IoT and cloud-driven architectures, focusing on scalable, intelligent computing solutions.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Ayetiran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Ozgobek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inter-modal attention-based deep learning framework using unified modality for multimodal cyberbullying detection.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477581"/>
      </p:ext>
    </p:extLst>
  </p:cSld>
  <p:clrMapOvr>
    <a:masterClrMapping/>
  </p:clrMapOvr>
  <p:transition spd="slow">
    <p:comb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DB7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483468"/>
            <a:ext cx="11274425" cy="450123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sincerely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the Co-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ordintor’s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faculty, and audience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giving us the opportunity to present our project —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3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MULTIMODAL CYBERBULLYING DETECTION USING</a:t>
            </a:r>
          </a:p>
          <a:p>
            <a:r>
              <a:rPr lang="en-US" sz="23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  INTER-MODAL-ATTENTION-BASED DEEP LEARNING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attention, feedback, and questions are truly appreciated.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further discussions or collaboration inquiries, feel free to contact us:</a:t>
            </a: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Tatapudi Rajesh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rajeshtatapudi1819@gmail.com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Mothe Suneetha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msuneetha973@gmail.com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Panchumarthi Lakshmi Gopinath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gsgopinath3@gmail.com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Chilaka Santhosh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chilakasanthosh11@gmail.com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4572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838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_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512425" cy="241732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 From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DB7</a:t>
            </a:r>
          </a:p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appreciate your attention and interest.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we’d like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floor for questions and discussions.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 free to ask about the model, dataset, or future work!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1602</TotalTime>
  <Words>3252</Words>
  <Application>Microsoft Office PowerPoint</Application>
  <PresentationFormat>Widescreen</PresentationFormat>
  <Paragraphs>393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The Serif Hand Black</vt:lpstr>
      <vt:lpstr>Times New Roman</vt:lpstr>
      <vt:lpstr>Wingdings</vt:lpstr>
      <vt:lpstr>Office Theme</vt:lpstr>
      <vt:lpstr>Department of Computer Science and Engineering MULTIMODAL CYBERBULLYING DETECTION USING INTER-MODAL-ATTENTION-BASED DEEP LEARNING</vt:lpstr>
      <vt:lpstr>OUTLINE</vt:lpstr>
      <vt:lpstr>ABSTRACT</vt:lpstr>
      <vt:lpstr>INTRODUCTION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METHODOLOGY</vt:lpstr>
      <vt:lpstr>IMPLEMENTATION</vt:lpstr>
      <vt:lpstr>RESULTS &amp; ANALYSIS</vt:lpstr>
      <vt:lpstr>RESULTS &amp; ANALYSIS</vt:lpstr>
      <vt:lpstr>RESULTS &amp; ANALYSIS</vt:lpstr>
      <vt:lpstr>CONCLUSION and FUTURE SCOPE</vt:lpstr>
      <vt:lpstr>CONCLUSION and FUTURE SCOPE</vt:lpstr>
      <vt:lpstr>REFERENCES</vt:lpstr>
      <vt:lpstr>REFERENCES</vt:lpstr>
      <vt:lpstr>REFERENCES</vt:lpstr>
      <vt:lpstr>ACKNOWLEGEMENTS</vt:lpstr>
      <vt:lpstr>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gopinath panchumarthi</dc:creator>
  <cp:lastModifiedBy>gopinath panchumarthi</cp:lastModifiedBy>
  <cp:revision>17</cp:revision>
  <dcterms:created xsi:type="dcterms:W3CDTF">2025-11-01T04:34:19Z</dcterms:created>
  <dcterms:modified xsi:type="dcterms:W3CDTF">2026-02-06T05:17:05Z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2025-11-01T00:00:00Z</vt:filetime>
  </property>
</Properties>
</file>